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1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2E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59"/>
  </p:normalViewPr>
  <p:slideViewPr>
    <p:cSldViewPr snapToGrid="0" snapToObjects="1">
      <p:cViewPr>
        <p:scale>
          <a:sx n="112" d="100"/>
          <a:sy n="112" d="100"/>
        </p:scale>
        <p:origin x="2400" y="9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6DEF56E-4397-0041-9D65-EBD6922A8087}" type="datetimeFigureOut">
              <a:rPr lang="he-IL" smtClean="0"/>
              <a:t>ט"ו.אלול.תשפ"ו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A5B81B81-9355-0A44-B3DF-4EDBCEFA28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640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81B81-9355-0A44-B3DF-4EDBCEFA287B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4801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פריסה מותאמת אישי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/mnt/data/sporty_digital_dashboard_design_abstract.png">
            <a:extLst>
              <a:ext uri="{FF2B5EF4-FFF2-40B4-BE49-F238E27FC236}">
                <a16:creationId xmlns:a16="http://schemas.microsoft.com/office/drawing/2014/main" id="{908BF91B-2710-37CA-1918-EE63386E3B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0">
            <a:extLst>
              <a:ext uri="{FF2B5EF4-FFF2-40B4-BE49-F238E27FC236}">
                <a16:creationId xmlns:a16="http://schemas.microsoft.com/office/drawing/2014/main" id="{2FDE0221-8A9A-CFDE-F1EB-D34E1F0EB4D1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pic>
        <p:nvPicPr>
          <p:cNvPr id="8" name="Image 1" descr="/mnt/data/image(16).png">
            <a:extLst>
              <a:ext uri="{FF2B5EF4-FFF2-40B4-BE49-F238E27FC236}">
                <a16:creationId xmlns:a16="http://schemas.microsoft.com/office/drawing/2014/main" id="{A8656DF4-0E93-E787-8067-A241CEA1FE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0040" y="201168"/>
            <a:ext cx="384048" cy="384048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B82EED02-944B-A741-B326-F5DC7B522F67}"/>
              </a:ext>
            </a:extLst>
          </p:cNvPr>
          <p:cNvSpPr/>
          <p:nvPr userDrawn="1"/>
        </p:nvSpPr>
        <p:spPr>
          <a:xfrm>
            <a:off x="832104" y="2788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DerbyUp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8627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פריסה מותאמת אישי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>
            <a:extLst>
              <a:ext uri="{FF2B5EF4-FFF2-40B4-BE49-F238E27FC236}">
                <a16:creationId xmlns:a16="http://schemas.microsoft.com/office/drawing/2014/main" id="{3F16637D-561C-018C-4313-AC93027A38C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457200" rtl="1" eaLnBrk="1" latinLnBrk="0" hangingPunct="1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637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erbyup-runi-fullstack.vercel.app/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github.com/nirdahan9/FullStack-FinalProject-DerbyUp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rcRect l="20565" t="20151" r="23070" b="18929"/>
          <a:stretch>
            <a:fillRect/>
          </a:stretch>
        </p:blipFill>
        <p:spPr>
          <a:xfrm>
            <a:off x="5153722" y="161480"/>
            <a:ext cx="1884556" cy="20368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3072" y="2198370"/>
            <a:ext cx="11185855" cy="2813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6400" b="1" dirty="0" err="1">
                <a:solidFill>
                  <a:srgbClr val="FFFFFF"/>
                </a:solidFill>
                <a:latin typeface="Heebo"/>
                <a:cs typeface="Heebo"/>
              </a:rPr>
              <a:t>DerbyUp</a:t>
            </a:r>
            <a:endParaRPr sz="6400" b="1" dirty="0">
              <a:solidFill>
                <a:srgbClr val="FFFFFF"/>
              </a:solidFill>
              <a:latin typeface="Heebo"/>
              <a:cs typeface="Heebo"/>
            </a:endParaRP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600" b="0" dirty="0">
                <a:solidFill>
                  <a:srgbClr val="D9E9A4"/>
                </a:solidFill>
                <a:latin typeface="Heebo"/>
                <a:cs typeface="Heebo"/>
              </a:rPr>
              <a:t>G U E S S .   C O M P E T E .   W I N .</a:t>
            </a:r>
          </a:p>
          <a:p>
            <a:pPr algn="ctr" rtl="1">
              <a:spcBef>
                <a:spcPts val="0"/>
              </a:spcBef>
              <a:spcAft>
                <a:spcPts val="1800"/>
              </a:spcAft>
            </a:pPr>
            <a:r>
              <a:rPr sz="2200" b="1" dirty="0" err="1">
                <a:solidFill>
                  <a:srgbClr val="DFF0E4"/>
                </a:solidFill>
                <a:latin typeface="Heebo"/>
                <a:cs typeface="Heebo"/>
              </a:rPr>
              <a:t>פלטפורמת</a:t>
            </a:r>
            <a:r>
              <a:rPr sz="2200" b="1" dirty="0">
                <a:solidFill>
                  <a:srgbClr val="DFF0E4"/>
                </a:solidFill>
                <a:latin typeface="Heebo"/>
                <a:cs typeface="Heebo"/>
              </a:rPr>
              <a:t> </a:t>
            </a:r>
            <a:r>
              <a:rPr sz="2200" b="1" dirty="0" err="1">
                <a:solidFill>
                  <a:srgbClr val="DFF0E4"/>
                </a:solidFill>
                <a:latin typeface="Heebo"/>
                <a:cs typeface="Heebo"/>
              </a:rPr>
              <a:t>ניחושי</a:t>
            </a:r>
            <a:r>
              <a:rPr sz="2200" b="1" dirty="0">
                <a:solidFill>
                  <a:srgbClr val="DFF0E4"/>
                </a:solidFill>
                <a:latin typeface="Heebo"/>
                <a:cs typeface="Heebo"/>
              </a:rPr>
              <a:t> </a:t>
            </a:r>
            <a:r>
              <a:rPr sz="2200" b="1" dirty="0" err="1">
                <a:solidFill>
                  <a:srgbClr val="DFF0E4"/>
                </a:solidFill>
                <a:latin typeface="Heebo"/>
                <a:cs typeface="Heebo"/>
              </a:rPr>
              <a:t>כדורגל</a:t>
            </a:r>
            <a:r>
              <a:rPr sz="2200" b="1" dirty="0">
                <a:solidFill>
                  <a:srgbClr val="DFF0E4"/>
                </a:solidFill>
                <a:latin typeface="Heebo"/>
                <a:cs typeface="Heebo"/>
              </a:rPr>
              <a:t> </a:t>
            </a:r>
            <a:r>
              <a:rPr sz="2200" b="1" dirty="0" err="1">
                <a:solidFill>
                  <a:srgbClr val="DFF0E4"/>
                </a:solidFill>
                <a:latin typeface="Heebo"/>
                <a:cs typeface="Heebo"/>
              </a:rPr>
              <a:t>לארגונים</a:t>
            </a:r>
            <a:endParaRPr sz="2200" b="1" dirty="0">
              <a:solidFill>
                <a:srgbClr val="DFF0E4"/>
              </a:solidFill>
              <a:latin typeface="Heebo"/>
              <a:cs typeface="Heebo"/>
            </a:endParaRPr>
          </a:p>
          <a:p>
            <a:pPr algn="ctr" rtl="1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200" b="0" dirty="0">
                <a:solidFill>
                  <a:srgbClr val="9FB8A8"/>
                </a:solidFill>
                <a:latin typeface="Heebo"/>
                <a:cs typeface="Heebo"/>
              </a:rPr>
              <a:t>פרויקט סיום – טכנולוגיות אינטרנט ופיתוח פול </a:t>
            </a:r>
            <a:r>
              <a:rPr lang="he-IL" sz="1200" b="0" dirty="0" err="1">
                <a:solidFill>
                  <a:srgbClr val="9FB8A8"/>
                </a:solidFill>
                <a:latin typeface="Heebo"/>
                <a:cs typeface="Heebo"/>
              </a:rPr>
              <a:t>סטאק</a:t>
            </a:r>
            <a:endParaRPr lang="he-IL" sz="1200" b="0" dirty="0">
              <a:solidFill>
                <a:srgbClr val="9FB8A8"/>
              </a:solidFill>
              <a:latin typeface="Heebo"/>
              <a:cs typeface="Heebo"/>
            </a:endParaRPr>
          </a:p>
          <a:p>
            <a:pPr algn="ctr" rtl="1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200" dirty="0">
                <a:solidFill>
                  <a:srgbClr val="9FB8A8"/>
                </a:solidFill>
                <a:latin typeface="Heebo"/>
                <a:cs typeface="Heebo"/>
              </a:rPr>
              <a:t>אוניברסיטת רייכמן | ספטמבר 2026</a:t>
            </a:r>
          </a:p>
          <a:p>
            <a:pPr algn="ctr" rtl="1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lang="he-IL" sz="1200" b="0" dirty="0">
                <a:solidFill>
                  <a:srgbClr val="9FB8A8"/>
                </a:solidFill>
                <a:latin typeface="Heebo"/>
                <a:cs typeface="Heebo"/>
              </a:rPr>
              <a:t>מגישים – ניר דהן וליאב צרפתי</a:t>
            </a:r>
            <a:endParaRPr sz="1200" b="0" dirty="0">
              <a:solidFill>
                <a:srgbClr val="9FB8A8"/>
              </a:solidFill>
              <a:latin typeface="Heebo"/>
              <a:cs typeface="Heebo"/>
            </a:endParaRPr>
          </a:p>
        </p:txBody>
      </p:sp>
      <p:pic>
        <p:nvPicPr>
          <p:cNvPr id="1026" name="Picture 2" descr="GitHub Logo and symbol, meaning, history, PNG, brand">
            <a:hlinkClick r:id="rId4"/>
            <a:extLst>
              <a:ext uri="{FF2B5EF4-FFF2-40B4-BE49-F238E27FC236}">
                <a16:creationId xmlns:a16="http://schemas.microsoft.com/office/drawing/2014/main" id="{22084E62-25B9-E377-7174-00F8531B2A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2" t="-8022" r="17142" b="-10550"/>
          <a:stretch>
            <a:fillRect/>
          </a:stretch>
        </p:blipFill>
        <p:spPr bwMode="auto">
          <a:xfrm>
            <a:off x="6173822" y="5189184"/>
            <a:ext cx="1245309" cy="124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ick - Free computer icons">
            <a:hlinkClick r:id="rId6"/>
            <a:extLst>
              <a:ext uri="{FF2B5EF4-FFF2-40B4-BE49-F238E27FC236}">
                <a16:creationId xmlns:a16="http://schemas.microsoft.com/office/drawing/2014/main" id="{0F1D16FF-4FE5-EDE1-C191-054D42F4C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5329" y="5309137"/>
            <a:ext cx="1005405" cy="100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92487" y="246888"/>
            <a:ext cx="7196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ניחושים</a:t>
            </a:r>
            <a:r>
              <a:rPr sz="26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עם</a:t>
            </a:r>
            <a:r>
              <a:rPr sz="26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החברים</a:t>
            </a:r>
            <a:r>
              <a:rPr sz="26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לעבודה</a:t>
            </a:r>
            <a:r>
              <a:rPr sz="26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lang="he-IL" sz="2600" b="1" dirty="0">
                <a:solidFill>
                  <a:srgbClr val="111827"/>
                </a:solidFill>
                <a:latin typeface="Heebo"/>
                <a:cs typeface="Heebo"/>
              </a:rPr>
              <a:t>–</a:t>
            </a:r>
            <a:r>
              <a:rPr sz="26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lang="he-IL" sz="2600" b="1" dirty="0">
                <a:solidFill>
                  <a:srgbClr val="111827"/>
                </a:solidFill>
                <a:latin typeface="Heebo"/>
                <a:cs typeface="Heebo"/>
              </a:rPr>
              <a:t>לפני </a:t>
            </a:r>
            <a:r>
              <a:rPr lang="en-US" sz="2600" b="1" dirty="0" err="1">
                <a:solidFill>
                  <a:srgbClr val="111827"/>
                </a:solidFill>
                <a:latin typeface="Heebo"/>
                <a:cs typeface="Heebo"/>
              </a:rPr>
              <a:t>DerbyUp</a:t>
            </a:r>
            <a:endParaRPr sz="2600" b="1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28268" y="975438"/>
            <a:ext cx="6960659" cy="1657071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Aft>
                <a:spcPts val="300"/>
              </a:spcAft>
            </a:pPr>
            <a:r>
              <a:rPr sz="1250" b="1" dirty="0" err="1">
                <a:solidFill>
                  <a:srgbClr val="111827"/>
                </a:solidFill>
                <a:latin typeface="Heebo"/>
                <a:cs typeface="Heebo"/>
              </a:rPr>
              <a:t>הבעיה</a:t>
            </a:r>
            <a:endParaRPr sz="125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spcAft>
                <a:spcPts val="300"/>
              </a:spcAft>
            </a:pP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• 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קשה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לאסוף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ניחושים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מכל המשתתפים</a:t>
            </a:r>
            <a:endParaRPr sz="1250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spcAft>
                <a:spcPts val="300"/>
              </a:spcAft>
            </a:pP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• 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חישוב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ניקוד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ידני</a:t>
            </a: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 –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טעויות</a:t>
            </a: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,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ויכוחים</a:t>
            </a: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 ופתח </a:t>
            </a:r>
            <a:r>
              <a:rPr lang="he-IL" sz="1250" dirty="0" err="1">
                <a:solidFill>
                  <a:srgbClr val="111827"/>
                </a:solidFill>
                <a:latin typeface="Heebo"/>
                <a:cs typeface="Heebo"/>
              </a:rPr>
              <a:t>לרמאויות</a:t>
            </a:r>
            <a:endParaRPr lang="he-IL" sz="1250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spcAft>
                <a:spcPts val="300"/>
              </a:spcAft>
            </a:pP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•  אין תגמול לניחושים ״מפתיעים״ של </a:t>
            </a:r>
            <a:r>
              <a:rPr lang="he-IL" sz="1250" dirty="0" err="1">
                <a:solidFill>
                  <a:srgbClr val="111827"/>
                </a:solidFill>
                <a:latin typeface="Heebo"/>
                <a:cs typeface="Heebo"/>
              </a:rPr>
              <a:t>אנדרדוגים</a:t>
            </a:r>
            <a:endParaRPr sz="1250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spcAft>
                <a:spcPts val="300"/>
              </a:spcAft>
            </a:pP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• 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אין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טבלת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דירוג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,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אין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פידבק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,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אין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חוויית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משחק</a:t>
            </a:r>
            <a:endParaRPr sz="1250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spcAft>
                <a:spcPts val="300"/>
              </a:spcAft>
            </a:pP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• 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המעורבות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דועכת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dirty="0" err="1">
                <a:solidFill>
                  <a:srgbClr val="111827"/>
                </a:solidFill>
                <a:latin typeface="Heebo"/>
                <a:cs typeface="Heebo"/>
              </a:rPr>
              <a:t>אחרי</a:t>
            </a:r>
            <a:r>
              <a:rPr sz="125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זמן קצר – בעיקר למי שלא מדורג גבוה</a:t>
            </a:r>
            <a:endParaRPr sz="1250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28268" y="2920769"/>
            <a:ext cx="6960659" cy="1657070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sz="1250" b="1" dirty="0" err="1">
                <a:solidFill>
                  <a:srgbClr val="111827"/>
                </a:solidFill>
                <a:latin typeface="Heebo"/>
                <a:cs typeface="Heebo"/>
              </a:rPr>
              <a:t>הפתרון</a:t>
            </a:r>
            <a:endParaRPr sz="125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• 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ליגות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ניחושים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lang="he-IL" sz="1200" b="0" dirty="0">
                <a:solidFill>
                  <a:srgbClr val="5A6473"/>
                </a:solidFill>
                <a:latin typeface="Heebo"/>
                <a:cs typeface="Heebo"/>
              </a:rPr>
              <a:t>חברתית / פנים ארגונית</a:t>
            </a:r>
            <a:endParaRPr sz="1200" b="0" dirty="0">
              <a:solidFill>
                <a:srgbClr val="5A6473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• 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משחקים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ויחסים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אמיתיים</a:t>
            </a:r>
            <a:r>
              <a:rPr lang="he-IL" sz="1200" b="0" dirty="0">
                <a:solidFill>
                  <a:srgbClr val="5A6473"/>
                </a:solidFill>
                <a:latin typeface="Heebo"/>
                <a:cs typeface="Heebo"/>
              </a:rPr>
              <a:t> לפי יכולות וכושר הקבוצות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,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עיבוד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ניקוד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אוטומטי</a:t>
            </a:r>
            <a:endParaRPr sz="1200" b="0" dirty="0">
              <a:solidFill>
                <a:srgbClr val="5A6473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• 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טבלה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שמתעדכנת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תוך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כדי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המשחק</a:t>
            </a:r>
            <a:endParaRPr lang="he-IL" sz="1200" b="0" dirty="0">
              <a:solidFill>
                <a:srgbClr val="5A6473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Aft>
                <a:spcPts val="400"/>
              </a:spcAft>
            </a:pPr>
            <a:r>
              <a:rPr lang="he-IL" sz="1200" dirty="0">
                <a:solidFill>
                  <a:srgbClr val="5A6473"/>
                </a:solidFill>
                <a:latin typeface="Heebo"/>
                <a:cs typeface="Heebo"/>
              </a:rPr>
              <a:t>•  יועץ </a:t>
            </a:r>
            <a:r>
              <a:rPr lang="en-US" sz="1200" dirty="0">
                <a:solidFill>
                  <a:srgbClr val="5A6473"/>
                </a:solidFill>
                <a:latin typeface="Heebo"/>
                <a:cs typeface="Heebo"/>
              </a:rPr>
              <a:t>AI</a:t>
            </a:r>
            <a:r>
              <a:rPr lang="he-IL" sz="1200" dirty="0">
                <a:solidFill>
                  <a:srgbClr val="5A6473"/>
                </a:solidFill>
                <a:latin typeface="Heebo"/>
                <a:cs typeface="Heebo"/>
              </a:rPr>
              <a:t> לגישור הפער למשתמשים פחות מעורבים</a:t>
            </a:r>
            <a:endParaRPr sz="1200" b="0" dirty="0">
              <a:solidFill>
                <a:srgbClr val="5A6473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• 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אתגר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יומי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,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הישגים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והתראות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שמחזיקים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עונה</a:t>
            </a:r>
            <a:r>
              <a:rPr sz="12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5A6473"/>
                </a:solidFill>
                <a:latin typeface="Heebo"/>
                <a:cs typeface="Heebo"/>
              </a:rPr>
              <a:t>שלמה</a:t>
            </a:r>
            <a:endParaRPr sz="1200" b="0" dirty="0">
              <a:solidFill>
                <a:srgbClr val="5A6473"/>
              </a:solidFill>
              <a:latin typeface="Heebo"/>
              <a:cs typeface="Heeb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28268" y="4866099"/>
            <a:ext cx="6960659" cy="1083675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Aft>
                <a:spcPts val="300"/>
              </a:spcAft>
            </a:pP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המערכת מיועדת </a:t>
            </a:r>
            <a:r>
              <a:rPr lang="en-US" sz="1250" b="1" dirty="0">
                <a:solidFill>
                  <a:srgbClr val="111827"/>
                </a:solidFill>
                <a:latin typeface="Heebo"/>
                <a:cs typeface="Heebo"/>
              </a:rPr>
              <a:t>B2B</a:t>
            </a: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 – </a:t>
            </a: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חברות, ועדי עובדים וארגונים </a:t>
            </a: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שיפתחו תחרות ניחושים אצלנו במסגרת.</a:t>
            </a:r>
          </a:p>
          <a:p>
            <a:pPr algn="ctr" rtl="1">
              <a:spcAft>
                <a:spcPts val="300"/>
              </a:spcAft>
            </a:pP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החברה תשלם לפי </a:t>
            </a: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מדרגות משתתפים</a:t>
            </a: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, ותקבל בתמורה את האפשרות לפתוח </a:t>
            </a: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ליגה גדולה</a:t>
            </a: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, ואפשרויות מגוונות </a:t>
            </a: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להתאמה אישית </a:t>
            </a: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בתיאום מול צוות הפיתוח.</a:t>
            </a:r>
          </a:p>
          <a:p>
            <a:pPr algn="ctr" rtl="1">
              <a:spcAft>
                <a:spcPts val="300"/>
              </a:spcAft>
            </a:pP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כמו כן יהיה ניתן להשתמש בפלטפורמה כאינדיבידואל (</a:t>
            </a:r>
            <a:r>
              <a:rPr lang="en-US" sz="1250" b="1" dirty="0">
                <a:solidFill>
                  <a:srgbClr val="111827"/>
                </a:solidFill>
                <a:latin typeface="Heebo"/>
                <a:cs typeface="Heebo"/>
              </a:rPr>
              <a:t>B2C</a:t>
            </a:r>
            <a:r>
              <a:rPr lang="he-IL" sz="1250" dirty="0">
                <a:solidFill>
                  <a:srgbClr val="111827"/>
                </a:solidFill>
                <a:latin typeface="Heebo"/>
                <a:cs typeface="Heebo"/>
              </a:rPr>
              <a:t>).</a:t>
            </a:r>
            <a:endParaRPr sz="1250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pic>
        <p:nvPicPr>
          <p:cNvPr id="9" name="תמונה 8" descr="תמונה שמכילה טקסט, צילום מסך, תכונות מולטימדיה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2018E1D-DA8F-A222-D326-DFBFFDAF09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08" b="11902"/>
          <a:stretch>
            <a:fillRect/>
          </a:stretch>
        </p:blipFill>
        <p:spPr>
          <a:xfrm>
            <a:off x="1391169" y="935505"/>
            <a:ext cx="2770632" cy="498699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167730" y="406908"/>
            <a:ext cx="1687197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lang="he-IL" sz="2600" b="1" dirty="0">
                <a:solidFill>
                  <a:srgbClr val="111827"/>
                </a:solidFill>
                <a:latin typeface="Heebo"/>
                <a:cs typeface="Heebo"/>
              </a:rPr>
              <a:t>מבט כולל</a:t>
            </a:r>
            <a:endParaRPr sz="2600" b="1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pic>
        <p:nvPicPr>
          <p:cNvPr id="6" name="Picture 5" descr="m-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059" y="979521"/>
            <a:ext cx="2202972" cy="4780652"/>
          </a:xfrm>
          <a:prstGeom prst="rect">
            <a:avLst/>
          </a:prstGeom>
          <a:ln w="22225">
            <a:solidFill>
              <a:srgbClr val="111827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233300" y="589250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000" b="1" dirty="0" err="1">
                <a:solidFill>
                  <a:srgbClr val="111827"/>
                </a:solidFill>
                <a:latin typeface="Heebo"/>
                <a:cs typeface="Heebo"/>
              </a:rPr>
              <a:t>מסך</a:t>
            </a:r>
            <a:r>
              <a:rPr sz="10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000" b="1" dirty="0" err="1">
                <a:solidFill>
                  <a:srgbClr val="111827"/>
                </a:solidFill>
                <a:latin typeface="Heebo"/>
                <a:cs typeface="Heebo"/>
              </a:rPr>
              <a:t>הבית</a:t>
            </a:r>
            <a:endParaRPr sz="1000" b="1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pic>
        <p:nvPicPr>
          <p:cNvPr id="8" name="Picture 7" descr="m-game-predic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489" y="979521"/>
            <a:ext cx="2202972" cy="4780652"/>
          </a:xfrm>
          <a:prstGeom prst="rect">
            <a:avLst/>
          </a:prstGeom>
          <a:ln w="22225">
            <a:solidFill>
              <a:srgbClr val="111827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2829730" y="589250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000" b="1" dirty="0" err="1">
                <a:solidFill>
                  <a:srgbClr val="111827"/>
                </a:solidFill>
                <a:latin typeface="Heebo"/>
                <a:cs typeface="Heebo"/>
              </a:rPr>
              <a:t>טופס</a:t>
            </a:r>
            <a:r>
              <a:rPr sz="10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000" b="1" dirty="0" err="1">
                <a:solidFill>
                  <a:srgbClr val="111827"/>
                </a:solidFill>
                <a:latin typeface="Heebo"/>
                <a:cs typeface="Heebo"/>
              </a:rPr>
              <a:t>הניחוש</a:t>
            </a:r>
            <a:endParaRPr sz="1000" b="1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pic>
        <p:nvPicPr>
          <p:cNvPr id="10" name="Picture 9" descr="m-league-tab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19" y="979521"/>
            <a:ext cx="2202972" cy="4780652"/>
          </a:xfrm>
          <a:prstGeom prst="rect">
            <a:avLst/>
          </a:prstGeom>
          <a:ln w="22225">
            <a:solidFill>
              <a:srgbClr val="111827"/>
            </a:solidFill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426160" y="589250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000" b="1" dirty="0" err="1">
                <a:solidFill>
                  <a:srgbClr val="111827"/>
                </a:solidFill>
                <a:latin typeface="Heebo"/>
                <a:cs typeface="Heebo"/>
              </a:rPr>
              <a:t>דירוג</a:t>
            </a:r>
            <a:r>
              <a:rPr sz="10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000" b="1" dirty="0" err="1">
                <a:solidFill>
                  <a:srgbClr val="111827"/>
                </a:solidFill>
                <a:latin typeface="Heebo"/>
                <a:cs typeface="Heebo"/>
              </a:rPr>
              <a:t>הליגה</a:t>
            </a:r>
            <a:r>
              <a:rPr sz="1000" b="1" dirty="0">
                <a:solidFill>
                  <a:srgbClr val="111827"/>
                </a:solidFill>
                <a:latin typeface="Heebo"/>
                <a:cs typeface="Heebo"/>
              </a:rPr>
              <a:t> - </a:t>
            </a:r>
            <a:r>
              <a:rPr sz="1000" b="1" dirty="0" err="1">
                <a:solidFill>
                  <a:srgbClr val="111827"/>
                </a:solidFill>
                <a:latin typeface="Heebo"/>
                <a:cs typeface="Heebo"/>
              </a:rPr>
              <a:t>חי</a:t>
            </a:r>
            <a:endParaRPr sz="1000" b="1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03207" y="1457985"/>
            <a:ext cx="4464885" cy="141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dirty="0" err="1">
                <a:solidFill>
                  <a:srgbClr val="111827"/>
                </a:solidFill>
                <a:latin typeface="Heebo"/>
                <a:cs typeface="Heebo"/>
              </a:rPr>
              <a:t>ליגות</a:t>
            </a:r>
            <a:r>
              <a:rPr sz="1600" b="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lang="he-IL" sz="1600" b="0" dirty="0">
                <a:solidFill>
                  <a:srgbClr val="111827"/>
                </a:solidFill>
                <a:latin typeface="Heebo"/>
                <a:cs typeface="Heebo"/>
              </a:rPr>
              <a:t>פרטיות וציבוריות · 3 </a:t>
            </a:r>
            <a:r>
              <a:rPr sz="1600" b="0" dirty="0" err="1">
                <a:solidFill>
                  <a:srgbClr val="111827"/>
                </a:solidFill>
                <a:latin typeface="Heebo"/>
                <a:cs typeface="Heebo"/>
              </a:rPr>
              <a:t>ניחושים</a:t>
            </a:r>
            <a:r>
              <a:rPr sz="1600" b="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Heebo"/>
                <a:cs typeface="Heebo"/>
              </a:rPr>
              <a:t>למשחק</a:t>
            </a:r>
            <a:endParaRPr lang="he-IL" sz="1600" b="0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 err="1">
                <a:solidFill>
                  <a:srgbClr val="0D7A37"/>
                </a:solidFill>
                <a:latin typeface="Heebo"/>
                <a:cs typeface="Heebo"/>
              </a:rPr>
              <a:t>תוצאות</a:t>
            </a:r>
            <a:r>
              <a:rPr sz="1600" b="1" dirty="0">
                <a:solidFill>
                  <a:srgbClr val="0D7A37"/>
                </a:solidFill>
                <a:latin typeface="Heebo"/>
                <a:cs typeface="Heebo"/>
              </a:rPr>
              <a:t> </a:t>
            </a:r>
            <a:r>
              <a:rPr sz="1600" b="1" dirty="0" err="1">
                <a:solidFill>
                  <a:srgbClr val="0D7A37"/>
                </a:solidFill>
                <a:latin typeface="Heebo"/>
                <a:cs typeface="Heebo"/>
              </a:rPr>
              <a:t>חיות</a:t>
            </a:r>
            <a:r>
              <a:rPr lang="he-IL" sz="1600" b="1" dirty="0">
                <a:solidFill>
                  <a:srgbClr val="0D7A37"/>
                </a:solidFill>
                <a:latin typeface="Heebo"/>
                <a:cs typeface="Heebo"/>
              </a:rPr>
              <a:t> + </a:t>
            </a:r>
            <a:r>
              <a:rPr sz="1600" b="1" dirty="0" err="1">
                <a:solidFill>
                  <a:srgbClr val="0D7A37"/>
                </a:solidFill>
                <a:latin typeface="Heebo"/>
                <a:cs typeface="Heebo"/>
              </a:rPr>
              <a:t>נקודות</a:t>
            </a:r>
            <a:r>
              <a:rPr sz="1600" b="1" dirty="0">
                <a:solidFill>
                  <a:srgbClr val="0D7A37"/>
                </a:solidFill>
                <a:latin typeface="Heebo"/>
                <a:cs typeface="Heebo"/>
              </a:rPr>
              <a:t> </a:t>
            </a:r>
            <a:r>
              <a:rPr sz="1600" b="1" dirty="0" err="1">
                <a:solidFill>
                  <a:srgbClr val="0D7A37"/>
                </a:solidFill>
                <a:latin typeface="Heebo"/>
                <a:cs typeface="Heebo"/>
              </a:rPr>
              <a:t>צפויות</a:t>
            </a:r>
            <a:r>
              <a:rPr lang="he-IL" sz="1600" dirty="0">
                <a:solidFill>
                  <a:srgbClr val="111827"/>
                </a:solidFill>
                <a:latin typeface="Heebo"/>
                <a:cs typeface="Heebo"/>
              </a:rPr>
              <a:t> · </a:t>
            </a:r>
            <a:r>
              <a:rPr sz="1600" b="0" dirty="0" err="1">
                <a:solidFill>
                  <a:srgbClr val="111827"/>
                </a:solidFill>
                <a:latin typeface="Heebo"/>
                <a:cs typeface="Heebo"/>
              </a:rPr>
              <a:t>בונוס</a:t>
            </a:r>
            <a:r>
              <a:rPr sz="1600" b="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Heebo"/>
                <a:cs typeface="Heebo"/>
              </a:rPr>
              <a:t>תוצאה</a:t>
            </a:r>
            <a:r>
              <a:rPr sz="1600" b="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Heebo"/>
                <a:cs typeface="Heebo"/>
              </a:rPr>
              <a:t>מדויקת</a:t>
            </a:r>
            <a:r>
              <a:rPr sz="1600" b="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600" b="1" dirty="0" err="1">
                <a:solidFill>
                  <a:srgbClr val="0D7A37"/>
                </a:solidFill>
                <a:latin typeface="Heebo"/>
                <a:cs typeface="Heebo"/>
              </a:rPr>
              <a:t>יועץ</a:t>
            </a:r>
            <a:r>
              <a:rPr lang="he-IL" sz="1600" b="1" dirty="0">
                <a:solidFill>
                  <a:srgbClr val="0D7A37"/>
                </a:solidFill>
                <a:latin typeface="Heebo"/>
                <a:cs typeface="Heebo"/>
              </a:rPr>
              <a:t> </a:t>
            </a:r>
            <a:r>
              <a:rPr lang="en-US" sz="1600" b="1" dirty="0">
                <a:solidFill>
                  <a:srgbClr val="0D7A37"/>
                </a:solidFill>
                <a:latin typeface="Heebo"/>
                <a:cs typeface="Heebo"/>
              </a:rPr>
              <a:t>AI</a:t>
            </a:r>
            <a:r>
              <a:rPr lang="he-IL" sz="1600" b="1" dirty="0">
                <a:solidFill>
                  <a:srgbClr val="0D7A37"/>
                </a:solidFill>
                <a:latin typeface="Heebo"/>
                <a:cs typeface="Heebo"/>
              </a:rPr>
              <a:t> </a:t>
            </a:r>
            <a:r>
              <a:rPr lang="he-IL" sz="1600" dirty="0">
                <a:solidFill>
                  <a:srgbClr val="111827"/>
                </a:solidFill>
                <a:latin typeface="Heebo"/>
                <a:cs typeface="Heebo"/>
              </a:rPr>
              <a:t>· </a:t>
            </a:r>
            <a:r>
              <a:rPr sz="1600" b="0" dirty="0" err="1">
                <a:solidFill>
                  <a:srgbClr val="111827"/>
                </a:solidFill>
                <a:latin typeface="Heebo"/>
                <a:cs typeface="Heebo"/>
              </a:rPr>
              <a:t>אתגר</a:t>
            </a:r>
            <a:r>
              <a:rPr sz="1600" b="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Heebo"/>
                <a:cs typeface="Heebo"/>
              </a:rPr>
              <a:t>יומי</a:t>
            </a:r>
            <a:r>
              <a:rPr lang="he-IL" sz="1600" dirty="0">
                <a:solidFill>
                  <a:srgbClr val="111827"/>
                </a:solidFill>
                <a:latin typeface="Heebo"/>
                <a:cs typeface="Heebo"/>
              </a:rPr>
              <a:t> · </a:t>
            </a:r>
            <a:r>
              <a:rPr sz="1600" b="0" dirty="0" err="1">
                <a:solidFill>
                  <a:srgbClr val="111827"/>
                </a:solidFill>
                <a:latin typeface="Heebo"/>
                <a:cs typeface="Heebo"/>
              </a:rPr>
              <a:t>הישגים</a:t>
            </a:r>
            <a:r>
              <a:rPr lang="he-IL" sz="1600" dirty="0">
                <a:solidFill>
                  <a:srgbClr val="111827"/>
                </a:solidFill>
                <a:latin typeface="Heebo"/>
                <a:cs typeface="Heebo"/>
              </a:rPr>
              <a:t> · </a:t>
            </a:r>
            <a:r>
              <a:rPr sz="1600" b="0" dirty="0" err="1">
                <a:solidFill>
                  <a:srgbClr val="111827"/>
                </a:solidFill>
                <a:latin typeface="Heebo"/>
                <a:cs typeface="Heebo"/>
              </a:rPr>
              <a:t>התראות</a:t>
            </a:r>
            <a:r>
              <a:rPr sz="1600" b="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endParaRPr lang="he-IL" sz="1600" b="0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600" b="0" dirty="0" err="1">
                <a:solidFill>
                  <a:srgbClr val="111827"/>
                </a:solidFill>
                <a:latin typeface="Heebo"/>
                <a:cs typeface="Heebo"/>
              </a:rPr>
              <a:t>דאשבורד</a:t>
            </a:r>
            <a:r>
              <a:rPr sz="1600" b="0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Heebo"/>
                <a:cs typeface="Heebo"/>
              </a:rPr>
              <a:t>ניהול</a:t>
            </a:r>
            <a:r>
              <a:rPr lang="he-IL" sz="1600" dirty="0">
                <a:solidFill>
                  <a:srgbClr val="111827"/>
                </a:solidFill>
                <a:latin typeface="Heebo"/>
                <a:cs typeface="Heebo"/>
              </a:rPr>
              <a:t> · ערכות </a:t>
            </a:r>
            <a:r>
              <a:rPr lang="he-IL" sz="1600" b="0" dirty="0">
                <a:solidFill>
                  <a:srgbClr val="111827"/>
                </a:solidFill>
                <a:latin typeface="Heebo"/>
                <a:cs typeface="Heebo"/>
              </a:rPr>
              <a:t>נושא מגוונות</a:t>
            </a:r>
            <a:endParaRPr sz="1600" b="0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pic>
        <p:nvPicPr>
          <p:cNvPr id="15" name="Picture 6" descr="d-landing.jpg">
            <a:extLst>
              <a:ext uri="{FF2B5EF4-FFF2-40B4-BE49-F238E27FC236}">
                <a16:creationId xmlns:a16="http://schemas.microsoft.com/office/drawing/2014/main" id="{8383163A-B713-E0CD-6BEC-B8E3C6D50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5864" y="3369847"/>
            <a:ext cx="3824521" cy="2390326"/>
          </a:xfrm>
          <a:prstGeom prst="rect">
            <a:avLst/>
          </a:prstGeom>
          <a:ln w="22225">
            <a:solidFill>
              <a:srgbClr val="111827"/>
            </a:solidFill>
          </a:ln>
          <a:effectLst/>
        </p:spPr>
      </p:pic>
      <p:sp>
        <p:nvSpPr>
          <p:cNvPr id="16" name="TextBox 6">
            <a:extLst>
              <a:ext uri="{FF2B5EF4-FFF2-40B4-BE49-F238E27FC236}">
                <a16:creationId xmlns:a16="http://schemas.microsoft.com/office/drawing/2014/main" id="{9EE95EA1-69F7-651D-695D-4984284F247B}"/>
              </a:ext>
            </a:extLst>
          </p:cNvPr>
          <p:cNvSpPr txBox="1"/>
          <p:nvPr/>
        </p:nvSpPr>
        <p:spPr>
          <a:xfrm>
            <a:off x="8821185" y="5892504"/>
            <a:ext cx="2057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lang="he-IL" sz="1000" b="1" dirty="0">
                <a:solidFill>
                  <a:srgbClr val="111827"/>
                </a:solidFill>
                <a:latin typeface="Heebo"/>
                <a:cs typeface="Heebo"/>
              </a:rPr>
              <a:t>דף הנחיתה</a:t>
            </a:r>
            <a:endParaRPr sz="1000" b="1" dirty="0">
              <a:solidFill>
                <a:srgbClr val="111827"/>
              </a:solidFill>
              <a:latin typeface="Heebo"/>
              <a:cs typeface="Heeb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3225" y="410540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מודל</a:t>
            </a:r>
            <a:r>
              <a:rPr sz="26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הניקוד</a:t>
            </a:r>
            <a:endParaRPr sz="2600" b="1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3377" y="934647"/>
            <a:ext cx="11185855" cy="801773"/>
          </a:xfrm>
          <a:prstGeom prst="roundRect">
            <a:avLst>
              <a:gd name="adj" fmla="val 12000"/>
            </a:avLst>
          </a:prstGeom>
          <a:solidFill>
            <a:srgbClr val="052E16"/>
          </a:solidFill>
          <a:ln w="12700">
            <a:solidFill>
              <a:srgbClr val="052E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sz="2100" b="1" dirty="0" err="1">
                <a:solidFill>
                  <a:srgbClr val="FFFFFF"/>
                </a:solidFill>
                <a:latin typeface="Heebo"/>
                <a:cs typeface="Heebo"/>
              </a:rPr>
              <a:t>המשתמש</a:t>
            </a:r>
            <a:r>
              <a:rPr sz="2100" b="1" dirty="0">
                <a:solidFill>
                  <a:srgbClr val="FFFFFF"/>
                </a:solidFill>
                <a:latin typeface="Heebo"/>
                <a:cs typeface="Heebo"/>
              </a:rPr>
              <a:t> </a:t>
            </a:r>
            <a:r>
              <a:rPr sz="2100" b="1" dirty="0" err="1">
                <a:solidFill>
                  <a:srgbClr val="FFFFFF"/>
                </a:solidFill>
                <a:latin typeface="Heebo"/>
                <a:cs typeface="Heebo"/>
              </a:rPr>
              <a:t>מנחש</a:t>
            </a:r>
            <a:r>
              <a:rPr lang="he-IL" sz="2100" b="1" dirty="0">
                <a:solidFill>
                  <a:srgbClr val="FFFFFF"/>
                </a:solidFill>
                <a:latin typeface="Heebo"/>
                <a:cs typeface="Heebo"/>
              </a:rPr>
              <a:t> בחינם</a:t>
            </a:r>
            <a:r>
              <a:rPr sz="2100" b="1" dirty="0">
                <a:solidFill>
                  <a:srgbClr val="FFFFFF"/>
                </a:solidFill>
                <a:latin typeface="Heebo"/>
                <a:cs typeface="Heebo"/>
              </a:rPr>
              <a:t>. </a:t>
            </a:r>
            <a:r>
              <a:rPr lang="he-IL" sz="2100" b="1" dirty="0">
                <a:solidFill>
                  <a:srgbClr val="FFFFFF"/>
                </a:solidFill>
                <a:latin typeface="Heebo"/>
                <a:cs typeface="Heebo"/>
              </a:rPr>
              <a:t>אם </a:t>
            </a:r>
            <a:r>
              <a:rPr sz="2100" b="1" dirty="0" err="1">
                <a:solidFill>
                  <a:srgbClr val="FFFFFF"/>
                </a:solidFill>
                <a:latin typeface="Heebo"/>
                <a:cs typeface="Heebo"/>
              </a:rPr>
              <a:t>צדק</a:t>
            </a:r>
            <a:r>
              <a:rPr sz="2100" b="1" dirty="0">
                <a:solidFill>
                  <a:srgbClr val="FFFFFF"/>
                </a:solidFill>
                <a:latin typeface="Heebo"/>
                <a:cs typeface="Heebo"/>
              </a:rPr>
              <a:t> - </a:t>
            </a:r>
            <a:r>
              <a:rPr sz="2100" b="1" dirty="0" err="1">
                <a:solidFill>
                  <a:srgbClr val="D9E9A4"/>
                </a:solidFill>
                <a:latin typeface="Heebo"/>
                <a:cs typeface="Heebo"/>
              </a:rPr>
              <a:t>היחס</a:t>
            </a:r>
            <a:r>
              <a:rPr sz="2100" b="1" dirty="0">
                <a:solidFill>
                  <a:srgbClr val="D9E9A4"/>
                </a:solidFill>
                <a:latin typeface="Heebo"/>
                <a:cs typeface="Heebo"/>
              </a:rPr>
              <a:t> </a:t>
            </a:r>
            <a:r>
              <a:rPr sz="2100" b="1" dirty="0" err="1">
                <a:solidFill>
                  <a:srgbClr val="D9E9A4"/>
                </a:solidFill>
                <a:latin typeface="Heebo"/>
                <a:cs typeface="Heebo"/>
              </a:rPr>
              <a:t>הופך</a:t>
            </a:r>
            <a:r>
              <a:rPr sz="2100" b="1" dirty="0">
                <a:solidFill>
                  <a:srgbClr val="D9E9A4"/>
                </a:solidFill>
                <a:latin typeface="Heebo"/>
                <a:cs typeface="Heebo"/>
              </a:rPr>
              <a:t> </a:t>
            </a:r>
            <a:r>
              <a:rPr sz="2100" b="1" dirty="0" err="1">
                <a:solidFill>
                  <a:srgbClr val="D9E9A4"/>
                </a:solidFill>
                <a:latin typeface="Heebo"/>
                <a:cs typeface="Heebo"/>
              </a:rPr>
              <a:t>לנקודות</a:t>
            </a:r>
            <a:r>
              <a:rPr lang="he-IL" sz="2100" b="1" dirty="0">
                <a:solidFill>
                  <a:srgbClr val="D9E9A4"/>
                </a:solidFill>
                <a:latin typeface="Heebo"/>
                <a:cs typeface="Heebo"/>
              </a:rPr>
              <a:t>. </a:t>
            </a:r>
            <a:r>
              <a:rPr lang="he-IL" sz="2100" b="1" dirty="0">
                <a:solidFill>
                  <a:schemeClr val="bg1"/>
                </a:solidFill>
                <a:latin typeface="Heebo"/>
                <a:cs typeface="Heebo"/>
              </a:rPr>
              <a:t>אם פגע בתוצאה מדויקת – פי 3.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sz="1200" b="0" dirty="0" err="1">
                <a:solidFill>
                  <a:srgbClr val="B9CFC0"/>
                </a:solidFill>
                <a:latin typeface="Heebo"/>
                <a:cs typeface="Heebo"/>
              </a:rPr>
              <a:t>אין</a:t>
            </a:r>
            <a:r>
              <a:rPr sz="1200" b="0" dirty="0">
                <a:solidFill>
                  <a:srgbClr val="B9CFC0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B9CFC0"/>
                </a:solidFill>
                <a:latin typeface="Heebo"/>
                <a:cs typeface="Heebo"/>
              </a:rPr>
              <a:t>הימור</a:t>
            </a:r>
            <a:r>
              <a:rPr sz="1200" b="0" dirty="0">
                <a:solidFill>
                  <a:srgbClr val="B9CFC0"/>
                </a:solidFill>
                <a:latin typeface="Heebo"/>
                <a:cs typeface="Heebo"/>
              </a:rPr>
              <a:t>, </a:t>
            </a:r>
            <a:r>
              <a:rPr sz="1200" b="0" dirty="0" err="1">
                <a:solidFill>
                  <a:srgbClr val="B9CFC0"/>
                </a:solidFill>
                <a:latin typeface="Heebo"/>
                <a:cs typeface="Heebo"/>
              </a:rPr>
              <a:t>אין</a:t>
            </a:r>
            <a:r>
              <a:rPr sz="1200" b="0" dirty="0">
                <a:solidFill>
                  <a:srgbClr val="B9CFC0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B9CFC0"/>
                </a:solidFill>
                <a:latin typeface="Heebo"/>
                <a:cs typeface="Heebo"/>
              </a:rPr>
              <a:t>יתרה</a:t>
            </a:r>
            <a:r>
              <a:rPr sz="1200" b="0" dirty="0">
                <a:solidFill>
                  <a:srgbClr val="B9CFC0"/>
                </a:solidFill>
                <a:latin typeface="Heebo"/>
                <a:cs typeface="Heebo"/>
              </a:rPr>
              <a:t>, </a:t>
            </a:r>
            <a:r>
              <a:rPr sz="1200" b="0" dirty="0" err="1">
                <a:solidFill>
                  <a:srgbClr val="B9CFC0"/>
                </a:solidFill>
                <a:latin typeface="Heebo"/>
                <a:cs typeface="Heebo"/>
              </a:rPr>
              <a:t>אין</a:t>
            </a:r>
            <a:r>
              <a:rPr sz="1200" b="0" dirty="0">
                <a:solidFill>
                  <a:srgbClr val="B9CFC0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B9CFC0"/>
                </a:solidFill>
                <a:latin typeface="Heebo"/>
                <a:cs typeface="Heebo"/>
              </a:rPr>
              <a:t>הפסד</a:t>
            </a:r>
            <a:r>
              <a:rPr sz="1200" b="0" dirty="0">
                <a:solidFill>
                  <a:srgbClr val="B9CFC0"/>
                </a:solidFill>
                <a:latin typeface="Heebo"/>
                <a:cs typeface="Heebo"/>
              </a:rPr>
              <a:t> - </a:t>
            </a:r>
            <a:r>
              <a:rPr sz="1200" b="0" dirty="0" err="1">
                <a:solidFill>
                  <a:srgbClr val="B9CFC0"/>
                </a:solidFill>
                <a:latin typeface="Heebo"/>
                <a:cs typeface="Heebo"/>
              </a:rPr>
              <a:t>נקודות</a:t>
            </a:r>
            <a:r>
              <a:rPr sz="1200" b="0" dirty="0">
                <a:solidFill>
                  <a:srgbClr val="B9CFC0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B9CFC0"/>
                </a:solidFill>
                <a:latin typeface="Heebo"/>
                <a:cs typeface="Heebo"/>
              </a:rPr>
              <a:t>רק</a:t>
            </a:r>
            <a:r>
              <a:rPr sz="1200" b="0" dirty="0">
                <a:solidFill>
                  <a:srgbClr val="B9CFC0"/>
                </a:solidFill>
                <a:latin typeface="Heebo"/>
                <a:cs typeface="Heebo"/>
              </a:rPr>
              <a:t> </a:t>
            </a:r>
            <a:r>
              <a:rPr sz="1200" b="0" dirty="0" err="1">
                <a:solidFill>
                  <a:srgbClr val="B9CFC0"/>
                </a:solidFill>
                <a:latin typeface="Heebo"/>
                <a:cs typeface="Heebo"/>
              </a:rPr>
              <a:t>נצברות</a:t>
            </a:r>
            <a:endParaRPr sz="1200" b="0" dirty="0">
              <a:solidFill>
                <a:srgbClr val="B9CFC0"/>
              </a:solidFill>
              <a:latin typeface="Heebo"/>
              <a:cs typeface="Heeb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91759" y="1904357"/>
            <a:ext cx="4797321" cy="1185375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sz="1250" b="1" dirty="0" err="1">
                <a:solidFill>
                  <a:srgbClr val="111827"/>
                </a:solidFill>
                <a:latin typeface="Heebo"/>
                <a:cs typeface="Heebo"/>
              </a:rPr>
              <a:t>שלוש</a:t>
            </a:r>
            <a:r>
              <a:rPr sz="125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b="1" dirty="0" err="1">
                <a:solidFill>
                  <a:srgbClr val="111827"/>
                </a:solidFill>
                <a:latin typeface="Heebo"/>
                <a:cs typeface="Heebo"/>
              </a:rPr>
              <a:t>שאלות</a:t>
            </a:r>
            <a:r>
              <a:rPr sz="125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b="1" dirty="0" err="1">
                <a:solidFill>
                  <a:srgbClr val="111827"/>
                </a:solidFill>
                <a:latin typeface="Heebo"/>
                <a:cs typeface="Heebo"/>
              </a:rPr>
              <a:t>לכל</a:t>
            </a:r>
            <a:r>
              <a:rPr sz="125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b="1" dirty="0" err="1">
                <a:solidFill>
                  <a:srgbClr val="111827"/>
                </a:solidFill>
                <a:latin typeface="Heebo"/>
                <a:cs typeface="Heebo"/>
              </a:rPr>
              <a:t>משחק</a:t>
            </a:r>
            <a:endParaRPr sz="125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5A6473"/>
                </a:solidFill>
                <a:latin typeface="Heebo"/>
                <a:cs typeface="Heebo"/>
              </a:rPr>
              <a:t>•  </a:t>
            </a:r>
            <a:r>
              <a:rPr sz="1300" b="0" dirty="0" err="1">
                <a:solidFill>
                  <a:srgbClr val="5A6473"/>
                </a:solidFill>
                <a:latin typeface="Heebo"/>
                <a:cs typeface="Heebo"/>
              </a:rPr>
              <a:t>מי</a:t>
            </a:r>
            <a:r>
              <a:rPr sz="13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300" b="0" dirty="0" err="1">
                <a:solidFill>
                  <a:srgbClr val="5A6473"/>
                </a:solidFill>
                <a:latin typeface="Heebo"/>
                <a:cs typeface="Heebo"/>
              </a:rPr>
              <a:t>ינצח</a:t>
            </a:r>
            <a:r>
              <a:rPr lang="he-IL" sz="1300" b="0" dirty="0">
                <a:solidFill>
                  <a:srgbClr val="5A6473"/>
                </a:solidFill>
                <a:latin typeface="Heebo"/>
                <a:cs typeface="Heebo"/>
              </a:rPr>
              <a:t>? (כולל תוצאה מדויקת)</a:t>
            </a:r>
            <a:endParaRPr sz="1300" b="0" dirty="0">
              <a:solidFill>
                <a:srgbClr val="5A6473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5A6473"/>
                </a:solidFill>
                <a:latin typeface="Heebo"/>
                <a:cs typeface="Heebo"/>
              </a:rPr>
              <a:t>•  </a:t>
            </a:r>
            <a:r>
              <a:rPr sz="1300" b="0" dirty="0" err="1">
                <a:solidFill>
                  <a:srgbClr val="5A6473"/>
                </a:solidFill>
                <a:latin typeface="Heebo"/>
                <a:cs typeface="Heebo"/>
              </a:rPr>
              <a:t>מעל</a:t>
            </a:r>
            <a:r>
              <a:rPr lang="he-IL" sz="1300" dirty="0">
                <a:solidFill>
                  <a:srgbClr val="5A6473"/>
                </a:solidFill>
                <a:latin typeface="Heebo"/>
                <a:cs typeface="Heebo"/>
              </a:rPr>
              <a:t> / </a:t>
            </a:r>
            <a:r>
              <a:rPr sz="1300" b="0" dirty="0" err="1">
                <a:solidFill>
                  <a:srgbClr val="5A6473"/>
                </a:solidFill>
                <a:latin typeface="Heebo"/>
                <a:cs typeface="Heebo"/>
              </a:rPr>
              <a:t>מתחת</a:t>
            </a:r>
            <a:r>
              <a:rPr sz="1300" b="0" dirty="0">
                <a:solidFill>
                  <a:srgbClr val="5A6473"/>
                </a:solidFill>
                <a:latin typeface="Heebo"/>
                <a:cs typeface="Heebo"/>
              </a:rPr>
              <a:t> 2.5</a:t>
            </a:r>
            <a:r>
              <a:rPr lang="he-IL" sz="13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300" b="0" dirty="0" err="1">
                <a:solidFill>
                  <a:srgbClr val="5A6473"/>
                </a:solidFill>
                <a:latin typeface="Heebo"/>
                <a:cs typeface="Heebo"/>
              </a:rPr>
              <a:t>שערים</a:t>
            </a:r>
            <a:r>
              <a:rPr lang="he-IL" sz="1300" b="0" dirty="0">
                <a:solidFill>
                  <a:srgbClr val="5A6473"/>
                </a:solidFill>
                <a:latin typeface="Heebo"/>
                <a:cs typeface="Heebo"/>
              </a:rPr>
              <a:t>?</a:t>
            </a:r>
            <a:endParaRPr sz="1300" b="0" dirty="0">
              <a:solidFill>
                <a:srgbClr val="5A6473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5A6473"/>
                </a:solidFill>
                <a:latin typeface="Heebo"/>
                <a:cs typeface="Heebo"/>
              </a:rPr>
              <a:t>•  </a:t>
            </a:r>
            <a:r>
              <a:rPr lang="he-IL" sz="1300" b="0" dirty="0">
                <a:solidFill>
                  <a:srgbClr val="5A6473"/>
                </a:solidFill>
                <a:latin typeface="Heebo"/>
                <a:cs typeface="Heebo"/>
              </a:rPr>
              <a:t>האם </a:t>
            </a:r>
            <a:r>
              <a:rPr sz="1300" b="0" dirty="0" err="1">
                <a:solidFill>
                  <a:srgbClr val="5A6473"/>
                </a:solidFill>
                <a:latin typeface="Heebo"/>
                <a:cs typeface="Heebo"/>
              </a:rPr>
              <a:t>שתי</a:t>
            </a:r>
            <a:r>
              <a:rPr sz="13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300" b="0" dirty="0" err="1">
                <a:solidFill>
                  <a:srgbClr val="5A6473"/>
                </a:solidFill>
                <a:latin typeface="Heebo"/>
                <a:cs typeface="Heebo"/>
              </a:rPr>
              <a:t>הקבוצות</a:t>
            </a:r>
            <a:r>
              <a:rPr sz="13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300" b="0" dirty="0" err="1">
                <a:solidFill>
                  <a:srgbClr val="5A6473"/>
                </a:solidFill>
                <a:latin typeface="Heebo"/>
                <a:cs typeface="Heebo"/>
              </a:rPr>
              <a:t>יבקיעו</a:t>
            </a:r>
            <a:r>
              <a:rPr lang="he-IL" sz="1300" b="0" dirty="0">
                <a:solidFill>
                  <a:srgbClr val="5A6473"/>
                </a:solidFill>
                <a:latin typeface="Heebo"/>
                <a:cs typeface="Heebo"/>
              </a:rPr>
              <a:t>?</a:t>
            </a:r>
            <a:endParaRPr sz="1300" b="0" dirty="0">
              <a:solidFill>
                <a:srgbClr val="5A6473"/>
              </a:solidFill>
              <a:latin typeface="Heebo"/>
              <a:cs typeface="Heebo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91759" y="3341304"/>
            <a:ext cx="4797321" cy="2086393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Bef>
                <a:spcPts val="0"/>
              </a:spcBef>
              <a:spcAft>
                <a:spcPts val="400"/>
              </a:spcAft>
            </a:pPr>
            <a:r>
              <a:rPr sz="1250" b="1" dirty="0" err="1">
                <a:solidFill>
                  <a:srgbClr val="111827"/>
                </a:solidFill>
                <a:latin typeface="Heebo"/>
                <a:cs typeface="Heebo"/>
              </a:rPr>
              <a:t>שני</a:t>
            </a:r>
            <a:r>
              <a:rPr sz="125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b="1" dirty="0" err="1">
                <a:solidFill>
                  <a:srgbClr val="111827"/>
                </a:solidFill>
                <a:latin typeface="Heebo"/>
                <a:cs typeface="Heebo"/>
              </a:rPr>
              <a:t>לוחות</a:t>
            </a:r>
            <a:r>
              <a:rPr sz="125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b="1" dirty="0" err="1">
                <a:solidFill>
                  <a:srgbClr val="111827"/>
                </a:solidFill>
                <a:latin typeface="Heebo"/>
                <a:cs typeface="Heebo"/>
              </a:rPr>
              <a:t>תוצאות</a:t>
            </a:r>
            <a:endParaRPr sz="1250" b="1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88892"/>
              </p:ext>
            </p:extLst>
          </p:nvPr>
        </p:nvGraphicFramePr>
        <p:xfrm>
          <a:off x="6979761" y="3798505"/>
          <a:ext cx="4593375" cy="1395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0D7A37"/>
                          </a:solidFill>
                          <a:latin typeface="Heebo"/>
                          <a:cs typeface="Heebo"/>
                        </a:rPr>
                        <a:t>לידרבורד</a:t>
                      </a:r>
                      <a:r>
                        <a:rPr sz="1100" b="1" dirty="0">
                          <a:solidFill>
                            <a:srgbClr val="0D7A37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0D7A37"/>
                          </a:solidFill>
                          <a:latin typeface="Heebo"/>
                          <a:cs typeface="Heebo"/>
                        </a:rPr>
                        <a:t>האתר</a:t>
                      </a:r>
                      <a:endParaRPr sz="1100" b="1" dirty="0">
                        <a:solidFill>
                          <a:srgbClr val="0D7A37"/>
                        </a:solidFill>
                        <a:latin typeface="Heebo"/>
                        <a:cs typeface="Heebo"/>
                      </a:endParaRPr>
                    </a:p>
                  </a:txBody>
                  <a:tcPr marL="73152" marR="73152" marT="27432" marB="27432" anchor="ctr">
                    <a:solidFill>
                      <a:srgbClr val="F2FA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0D7A37"/>
                          </a:solidFill>
                          <a:latin typeface="Heebo"/>
                          <a:cs typeface="Heebo"/>
                        </a:rPr>
                        <a:t>דירוג</a:t>
                      </a:r>
                      <a:r>
                        <a:rPr sz="1100" b="1" dirty="0">
                          <a:solidFill>
                            <a:srgbClr val="0D7A37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0D7A37"/>
                          </a:solidFill>
                          <a:latin typeface="Heebo"/>
                          <a:cs typeface="Heebo"/>
                        </a:rPr>
                        <a:t>הליגה</a:t>
                      </a:r>
                      <a:endParaRPr sz="1100" b="1" dirty="0">
                        <a:solidFill>
                          <a:srgbClr val="0D7A37"/>
                        </a:solidFill>
                        <a:latin typeface="Heebo"/>
                        <a:cs typeface="Heebo"/>
                      </a:endParaRPr>
                    </a:p>
                  </a:txBody>
                  <a:tcPr marL="73152" marR="73152" marT="27432" marB="27432" anchor="ctr">
                    <a:solidFill>
                      <a:srgbClr val="F2FA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73152" marR="73152" marT="27432" marB="27432" anchor="ctr">
                    <a:solidFill>
                      <a:srgbClr val="F2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הכול</a:t>
                      </a:r>
                      <a:r>
                        <a:rPr sz="110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כולל</a:t>
                      </a:r>
                      <a:r>
                        <a:rPr sz="110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האתגר</a:t>
                      </a:r>
                      <a:r>
                        <a:rPr sz="110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היומי</a:t>
                      </a:r>
                      <a:endParaRPr sz="1100" b="0" dirty="0">
                        <a:solidFill>
                          <a:srgbClr val="5A6473"/>
                        </a:solidFill>
                        <a:latin typeface="Heebo"/>
                        <a:cs typeface="Heebo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רק</a:t>
                      </a:r>
                      <a:r>
                        <a:rPr sz="110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"</a:t>
                      </a:r>
                      <a:r>
                        <a:rPr sz="110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מי</a:t>
                      </a:r>
                      <a:r>
                        <a:rPr sz="110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ינצח</a:t>
                      </a:r>
                      <a:r>
                        <a:rPr sz="110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dirty="0" err="1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מה</a:t>
                      </a:r>
                      <a:r>
                        <a:rPr sz="1100" b="1" dirty="0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נספר</a:t>
                      </a:r>
                      <a:endParaRPr sz="1100" b="1" dirty="0">
                        <a:solidFill>
                          <a:srgbClr val="111827"/>
                        </a:solidFill>
                        <a:latin typeface="Heebo"/>
                        <a:cs typeface="Heebo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478"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מאז</a:t>
                      </a:r>
                      <a:r>
                        <a:rPr sz="110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ההרשמה</a:t>
                      </a:r>
                      <a:r>
                        <a:rPr lang="he-IL" sz="110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לאתר</a:t>
                      </a:r>
                      <a:endParaRPr sz="1100" b="0" dirty="0">
                        <a:solidFill>
                          <a:srgbClr val="5A6473"/>
                        </a:solidFill>
                        <a:latin typeface="Heebo"/>
                        <a:cs typeface="Heebo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מרגע</a:t>
                      </a:r>
                      <a:r>
                        <a:rPr sz="110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ההצטרפות</a:t>
                      </a:r>
                      <a:r>
                        <a:rPr sz="110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לליגה</a:t>
                      </a:r>
                      <a:endParaRPr sz="1100" b="0" dirty="0">
                        <a:solidFill>
                          <a:srgbClr val="5A6473"/>
                        </a:solidFill>
                        <a:latin typeface="Heebo"/>
                        <a:cs typeface="Heebo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1100" b="1" dirty="0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ממתי נספר</a:t>
                      </a:r>
                      <a:endParaRPr sz="1100" b="1" dirty="0">
                        <a:solidFill>
                          <a:srgbClr val="111827"/>
                        </a:solidFill>
                        <a:latin typeface="Heebo"/>
                        <a:cs typeface="Heebo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6" name="תמונה 15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9BDB1F3-11DB-98A1-C7E3-0AEA5150C3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88"/>
          <a:stretch>
            <a:fillRect/>
          </a:stretch>
        </p:blipFill>
        <p:spPr>
          <a:xfrm>
            <a:off x="3862371" y="1904356"/>
            <a:ext cx="2721808" cy="4186455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926744EA-609E-15D3-7D8C-26F3D16CA1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50"/>
          <a:stretch>
            <a:fillRect/>
          </a:stretch>
        </p:blipFill>
        <p:spPr>
          <a:xfrm>
            <a:off x="814121" y="1904356"/>
            <a:ext cx="2740671" cy="4186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658368"/>
            <a:ext cx="111858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אפיון</a:t>
            </a:r>
            <a:r>
              <a:rPr sz="26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המוצר</a:t>
            </a:r>
            <a:r>
              <a:rPr sz="2600" b="1" dirty="0">
                <a:solidFill>
                  <a:srgbClr val="111827"/>
                </a:solidFill>
                <a:latin typeface="Heebo"/>
                <a:cs typeface="Heebo"/>
              </a:rPr>
              <a:t> - </a:t>
            </a: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ה"למה</a:t>
            </a:r>
            <a:r>
              <a:rPr sz="2600" b="1" dirty="0">
                <a:solidFill>
                  <a:srgbClr val="111827"/>
                </a:solidFill>
                <a:latin typeface="Heebo"/>
                <a:cs typeface="Heebo"/>
              </a:rPr>
              <a:t>" </a:t>
            </a: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שלפני</a:t>
            </a:r>
            <a:r>
              <a:rPr sz="26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הקוד</a:t>
            </a:r>
            <a:endParaRPr sz="2600" b="1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33009" y="1944275"/>
            <a:ext cx="5455767" cy="1484725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סגירת ניחוש 10 דקות לפני שריקת הפתיחה</a:t>
            </a:r>
            <a:endParaRPr sz="125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b="0" dirty="0">
                <a:solidFill>
                  <a:srgbClr val="5A6473"/>
                </a:solidFill>
                <a:latin typeface="Heebo"/>
                <a:cs typeface="Heebo"/>
              </a:rPr>
              <a:t>הוגנות מול נתונים שמתפרסמים לפני המשחק (הרכבים</a:t>
            </a:r>
            <a:r>
              <a:rPr lang="he-IL" sz="1100" dirty="0">
                <a:solidFill>
                  <a:srgbClr val="5A6473"/>
                </a:solidFill>
                <a:latin typeface="Heebo"/>
                <a:cs typeface="Heebo"/>
              </a:rPr>
              <a:t>, פציעות וכו׳)</a:t>
            </a: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b="0" dirty="0">
                <a:solidFill>
                  <a:srgbClr val="5A6473"/>
                </a:solidFill>
                <a:latin typeface="Heebo"/>
                <a:cs typeface="Heebo"/>
              </a:rPr>
              <a:t>מניעת אפשרות לראות </a:t>
            </a:r>
            <a:r>
              <a:rPr lang="he-IL" sz="1100" dirty="0">
                <a:solidFill>
                  <a:srgbClr val="5A6473"/>
                </a:solidFill>
                <a:latin typeface="Heebo"/>
                <a:cs typeface="Heebo"/>
              </a:rPr>
              <a:t>ניחושים של המתחרים</a:t>
            </a: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b="0" dirty="0">
                <a:solidFill>
                  <a:srgbClr val="5A6473"/>
                </a:solidFill>
                <a:latin typeface="Heebo"/>
                <a:cs typeface="Heebo"/>
              </a:rPr>
              <a:t>מרווח ביטחון למניעת ניחוש </a:t>
            </a:r>
            <a:r>
              <a:rPr lang="he-IL" sz="1100" b="0" dirty="0" err="1">
                <a:solidFill>
                  <a:srgbClr val="5A6473"/>
                </a:solidFill>
                <a:latin typeface="Heebo"/>
                <a:cs typeface="Heebo"/>
              </a:rPr>
              <a:t>תו״כ</a:t>
            </a:r>
            <a:r>
              <a:rPr lang="he-IL" sz="1100" b="0" dirty="0">
                <a:solidFill>
                  <a:srgbClr val="5A6473"/>
                </a:solidFill>
                <a:latin typeface="Heebo"/>
                <a:cs typeface="Heebo"/>
              </a:rPr>
              <a:t> משחק</a:t>
            </a:r>
            <a:endParaRPr sz="1100" b="0" dirty="0">
              <a:solidFill>
                <a:srgbClr val="5A6473"/>
              </a:solidFill>
              <a:latin typeface="Heebo"/>
              <a:cs typeface="Heebo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2" y="1944276"/>
            <a:ext cx="5455767" cy="907307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טבלה חיה</a:t>
            </a:r>
            <a:endParaRPr sz="125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dirty="0">
                <a:solidFill>
                  <a:srgbClr val="5A6473"/>
                </a:solidFill>
                <a:latin typeface="Heebo"/>
                <a:cs typeface="Heebo"/>
              </a:rPr>
              <a:t>מוסיפה עניין ומעורבות בטורניר – כל משתמש נכנס מספר פעמים </a:t>
            </a:r>
            <a:r>
              <a:rPr lang="he-IL" sz="1100" dirty="0" err="1">
                <a:solidFill>
                  <a:srgbClr val="5A6473"/>
                </a:solidFill>
                <a:latin typeface="Heebo"/>
                <a:cs typeface="Heebo"/>
              </a:rPr>
              <a:t>תו״כ</a:t>
            </a:r>
            <a:r>
              <a:rPr lang="he-IL" sz="1100" dirty="0">
                <a:solidFill>
                  <a:srgbClr val="5A6473"/>
                </a:solidFill>
                <a:latin typeface="Heebo"/>
                <a:cs typeface="Heebo"/>
              </a:rPr>
              <a:t> משחק</a:t>
            </a:r>
            <a:endParaRPr sz="1100" b="0" dirty="0">
              <a:solidFill>
                <a:srgbClr val="5A6473"/>
              </a:solidFill>
              <a:latin typeface="Heebo"/>
              <a:cs typeface="Heeb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33009" y="3937197"/>
            <a:ext cx="5455767" cy="1484725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יועץ </a:t>
            </a:r>
            <a:r>
              <a:rPr lang="en-US" sz="1250" b="1" dirty="0">
                <a:solidFill>
                  <a:srgbClr val="111827"/>
                </a:solidFill>
                <a:latin typeface="Heebo"/>
                <a:cs typeface="Heebo"/>
              </a:rPr>
              <a:t>AI</a:t>
            </a:r>
            <a:endParaRPr sz="125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מגשר על הפער למשתמשים שלא מבינים בכדורגל</a:t>
            </a: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מספק נתונים רלוונטיים לכל משחק במטרה לשפר את הניחוש</a:t>
            </a: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מוגבל </a:t>
            </a:r>
            <a:r>
              <a:rPr lang="he-IL" sz="1100" dirty="0" err="1">
                <a:solidFill>
                  <a:srgbClr val="111827"/>
                </a:solidFill>
                <a:latin typeface="Heebo"/>
                <a:cs typeface="Heebo"/>
              </a:rPr>
              <a:t>ב״גבולות</a:t>
            </a: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 הגזרה״ – צריכת טוקנים מבוקרת ומניעת </a:t>
            </a:r>
            <a:r>
              <a:rPr lang="en-US" sz="1100" dirty="0">
                <a:solidFill>
                  <a:srgbClr val="111827"/>
                </a:solidFill>
                <a:latin typeface="Heebo"/>
                <a:cs typeface="Heebo"/>
              </a:rPr>
              <a:t>prompt injections</a:t>
            </a:r>
            <a:endParaRPr lang="he-IL" sz="1100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שימוש במודל ״חכם״ – איכות ע״ח כמות ומחיר</a:t>
            </a:r>
            <a:endParaRPr sz="1100" dirty="0">
              <a:solidFill>
                <a:srgbClr val="5A6473"/>
              </a:solidFill>
              <a:latin typeface="Heebo"/>
              <a:cs typeface="Heebo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1" y="3229446"/>
            <a:ext cx="5455767" cy="907307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שימוש ב-</a:t>
            </a:r>
            <a:r>
              <a:rPr lang="en-US" sz="1250" b="1" dirty="0">
                <a:solidFill>
                  <a:srgbClr val="111827"/>
                </a:solidFill>
                <a:latin typeface="Heebo"/>
                <a:cs typeface="Heebo"/>
              </a:rPr>
              <a:t>API</a:t>
            </a: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 במקום הזנה ידנית </a:t>
            </a: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dirty="0">
                <a:solidFill>
                  <a:srgbClr val="5A6473"/>
                </a:solidFill>
                <a:latin typeface="Heebo"/>
                <a:cs typeface="Heebo"/>
              </a:rPr>
              <a:t>עדכון נתונים תדיר, מהיר ומהימן</a:t>
            </a: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dirty="0">
                <a:solidFill>
                  <a:srgbClr val="5A6473"/>
                </a:solidFill>
                <a:latin typeface="Heebo"/>
                <a:cs typeface="Heebo"/>
              </a:rPr>
              <a:t>עלות נמוכה למול עבודה ידנית ״משעבדת״</a:t>
            </a:r>
            <a:endParaRPr lang="he-IL" sz="1100" b="0" dirty="0">
              <a:solidFill>
                <a:srgbClr val="5A6473"/>
              </a:solidFill>
              <a:latin typeface="Heebo"/>
              <a:cs typeface="Heebo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55B2F0BD-9A22-0F3F-3603-DF13E26983FC}"/>
              </a:ext>
            </a:extLst>
          </p:cNvPr>
          <p:cNvSpPr/>
          <p:nvPr/>
        </p:nvSpPr>
        <p:spPr>
          <a:xfrm>
            <a:off x="502920" y="4514615"/>
            <a:ext cx="5455767" cy="907307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מעקב וניהול</a:t>
            </a: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dirty="0">
                <a:solidFill>
                  <a:srgbClr val="5A6473"/>
                </a:solidFill>
                <a:latin typeface="Heebo"/>
                <a:cs typeface="Heebo"/>
              </a:rPr>
              <a:t>3 דרגות – משתמש רגיל, מנהל ליגה, מפתח אתר</a:t>
            </a: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b="0" dirty="0" err="1">
                <a:solidFill>
                  <a:srgbClr val="5A6473"/>
                </a:solidFill>
                <a:latin typeface="Heebo"/>
                <a:cs typeface="Heebo"/>
              </a:rPr>
              <a:t>דאשבורד</a:t>
            </a:r>
            <a:r>
              <a:rPr lang="he-IL" sz="1100" b="0" dirty="0">
                <a:solidFill>
                  <a:srgbClr val="5A6473"/>
                </a:solidFill>
                <a:latin typeface="Heebo"/>
                <a:cs typeface="Heebo"/>
              </a:rPr>
              <a:t> ניהול למפתחי האתר – מעקב וניטור תקלות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72409" y="246888"/>
            <a:ext cx="8816365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ארכיטקטורה</a:t>
            </a:r>
            <a:r>
              <a:rPr sz="2600" b="1" dirty="0">
                <a:solidFill>
                  <a:srgbClr val="111827"/>
                </a:solidFill>
                <a:latin typeface="Heebo"/>
                <a:cs typeface="Heebo"/>
              </a:rPr>
              <a:t> - </a:t>
            </a: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הכול</a:t>
            </a:r>
            <a:r>
              <a:rPr sz="26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בצד</a:t>
            </a:r>
            <a:r>
              <a:rPr sz="26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2600" b="1" dirty="0" err="1">
                <a:solidFill>
                  <a:srgbClr val="111827"/>
                </a:solidFill>
                <a:latin typeface="Heebo"/>
                <a:cs typeface="Heebo"/>
              </a:rPr>
              <a:t>השרת</a:t>
            </a:r>
            <a:endParaRPr sz="2600" b="1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pic>
        <p:nvPicPr>
          <p:cNvPr id="6" name="Picture 5" descr="arch-diagram.png"/>
          <p:cNvPicPr>
            <a:picLocks noChangeAspect="1"/>
          </p:cNvPicPr>
          <p:nvPr/>
        </p:nvPicPr>
        <p:blipFill>
          <a:blip r:embed="rId2"/>
          <a:srcRect l="11611" r="11272"/>
          <a:stretch>
            <a:fillRect/>
          </a:stretch>
        </p:blipFill>
        <p:spPr>
          <a:xfrm>
            <a:off x="502919" y="689522"/>
            <a:ext cx="11185855" cy="6020172"/>
          </a:xfrm>
          <a:prstGeom prst="rect">
            <a:avLst/>
          </a:prstGeom>
        </p:spPr>
      </p:pic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E2EDE601-90B8-6AFA-98C3-1A7269670471}"/>
              </a:ext>
            </a:extLst>
          </p:cNvPr>
          <p:cNvSpPr/>
          <p:nvPr/>
        </p:nvSpPr>
        <p:spPr>
          <a:xfrm>
            <a:off x="4452513" y="813816"/>
            <a:ext cx="1807340" cy="1164706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Bef>
                <a:spcPts val="0"/>
              </a:spcBef>
              <a:spcAft>
                <a:spcPts val="100"/>
              </a:spcAft>
            </a:pPr>
            <a:r>
              <a:rPr sz="3000" b="1" dirty="0">
                <a:solidFill>
                  <a:srgbClr val="0D7A37"/>
                </a:solidFill>
                <a:latin typeface="Heebo"/>
                <a:cs typeface="Heebo"/>
              </a:rPr>
              <a:t>18</a:t>
            </a:r>
          </a:p>
          <a:p>
            <a:pPr algn="ctr" rtl="1">
              <a:spcBef>
                <a:spcPts val="0"/>
              </a:spcBef>
              <a:spcAft>
                <a:spcPts val="200"/>
              </a:spcAft>
            </a:pPr>
            <a:r>
              <a:rPr sz="1200" b="1" dirty="0" err="1">
                <a:solidFill>
                  <a:srgbClr val="111827"/>
                </a:solidFill>
                <a:latin typeface="Heebo"/>
                <a:cs typeface="Heebo"/>
              </a:rPr>
              <a:t>טבלאות</a:t>
            </a:r>
            <a:endParaRPr sz="120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dirty="0">
                <a:solidFill>
                  <a:srgbClr val="5A6473"/>
                </a:solidFill>
                <a:latin typeface="Heebo"/>
                <a:cs typeface="Heebo"/>
              </a:rPr>
              <a:t>12 </a:t>
            </a: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ליבה</a:t>
            </a:r>
            <a:r>
              <a:rPr sz="950" b="0" dirty="0">
                <a:solidFill>
                  <a:srgbClr val="5A6473"/>
                </a:solidFill>
                <a:latin typeface="Heebo"/>
                <a:cs typeface="Heebo"/>
              </a:rPr>
              <a:t> + 6 </a:t>
            </a: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של</a:t>
            </a:r>
            <a:r>
              <a:rPr sz="95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היועץ</a:t>
            </a:r>
            <a:r>
              <a:rPr sz="950" b="0" dirty="0">
                <a:solidFill>
                  <a:srgbClr val="5A6473"/>
                </a:solidFill>
                <a:latin typeface="Heebo"/>
                <a:cs typeface="Heebo"/>
              </a:rPr>
              <a:t>, </a:t>
            </a: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בהפרדה</a:t>
            </a:r>
            <a:r>
              <a:rPr sz="95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מכוונת</a:t>
            </a:r>
            <a:endParaRPr sz="950" b="0" dirty="0">
              <a:solidFill>
                <a:srgbClr val="5A6473"/>
              </a:solidFill>
              <a:latin typeface="Heebo"/>
              <a:cs typeface="Heebo"/>
            </a:endParaRP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8D305B4D-D627-303C-5977-7398738636FC}"/>
              </a:ext>
            </a:extLst>
          </p:cNvPr>
          <p:cNvSpPr/>
          <p:nvPr/>
        </p:nvSpPr>
        <p:spPr>
          <a:xfrm>
            <a:off x="2350008" y="813816"/>
            <a:ext cx="1807340" cy="1164706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Bef>
                <a:spcPts val="0"/>
              </a:spcBef>
              <a:spcAft>
                <a:spcPts val="100"/>
              </a:spcAft>
            </a:pPr>
            <a:r>
              <a:rPr sz="3000" b="1" dirty="0">
                <a:solidFill>
                  <a:srgbClr val="0D7A37"/>
                </a:solidFill>
                <a:latin typeface="Heebo"/>
                <a:cs typeface="Heebo"/>
              </a:rPr>
              <a:t>13</a:t>
            </a:r>
          </a:p>
          <a:p>
            <a:pPr algn="ctr" rtl="1">
              <a:spcBef>
                <a:spcPts val="0"/>
              </a:spcBef>
              <a:spcAft>
                <a:spcPts val="200"/>
              </a:spcAft>
            </a:pPr>
            <a:r>
              <a:rPr sz="1200" b="1" dirty="0" err="1">
                <a:solidFill>
                  <a:srgbClr val="111827"/>
                </a:solidFill>
                <a:latin typeface="Heebo"/>
                <a:cs typeface="Heebo"/>
              </a:rPr>
              <a:t>אינדקסים</a:t>
            </a:r>
            <a:endParaRPr sz="120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מהם</a:t>
            </a:r>
            <a:r>
              <a:rPr sz="950" b="0" dirty="0">
                <a:solidFill>
                  <a:srgbClr val="5A6473"/>
                </a:solidFill>
                <a:latin typeface="Heebo"/>
                <a:cs typeface="Heebo"/>
              </a:rPr>
              <a:t> 2 </a:t>
            </a: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חלקיים</a:t>
            </a:r>
            <a:r>
              <a:rPr sz="95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ו</a:t>
            </a:r>
            <a:r>
              <a:rPr sz="950" b="0" dirty="0">
                <a:solidFill>
                  <a:srgbClr val="5A6473"/>
                </a:solidFill>
                <a:latin typeface="Heebo"/>
                <a:cs typeface="Heebo"/>
              </a:rPr>
              <a:t>-GIN trigram </a:t>
            </a: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לחיפוש</a:t>
            </a:r>
            <a:r>
              <a:rPr sz="95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שחקנים</a:t>
            </a:r>
            <a:endParaRPr sz="950" b="0" dirty="0">
              <a:solidFill>
                <a:srgbClr val="5A6473"/>
              </a:solidFill>
              <a:latin typeface="Heebo"/>
              <a:cs typeface="Heebo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2868412B-0D39-F086-B10C-003AA9B8E3CD}"/>
              </a:ext>
            </a:extLst>
          </p:cNvPr>
          <p:cNvSpPr/>
          <p:nvPr/>
        </p:nvSpPr>
        <p:spPr>
          <a:xfrm>
            <a:off x="247502" y="813816"/>
            <a:ext cx="1807340" cy="1164706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Bef>
                <a:spcPts val="0"/>
              </a:spcBef>
              <a:spcAft>
                <a:spcPts val="100"/>
              </a:spcAft>
            </a:pPr>
            <a:r>
              <a:rPr sz="3000" b="1" dirty="0">
                <a:solidFill>
                  <a:srgbClr val="0D7A37"/>
                </a:solidFill>
                <a:latin typeface="Heebo"/>
                <a:cs typeface="Heebo"/>
              </a:rPr>
              <a:t>15</a:t>
            </a:r>
          </a:p>
          <a:p>
            <a:pPr algn="ctr" rtl="1">
              <a:spcBef>
                <a:spcPts val="0"/>
              </a:spcBef>
              <a:spcAft>
                <a:spcPts val="200"/>
              </a:spcAft>
            </a:pPr>
            <a:r>
              <a:rPr sz="1200" b="1" dirty="0">
                <a:solidFill>
                  <a:srgbClr val="111827"/>
                </a:solidFill>
                <a:latin typeface="Heebo"/>
                <a:cs typeface="Heebo"/>
              </a:rPr>
              <a:t>Server Actions</a:t>
            </a: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כל</a:t>
            </a:r>
            <a:r>
              <a:rPr sz="95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אחת</a:t>
            </a:r>
            <a:r>
              <a:rPr sz="95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מתועדת</a:t>
            </a:r>
            <a:r>
              <a:rPr sz="95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עם</a:t>
            </a:r>
            <a:r>
              <a:rPr sz="95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ההרשאה</a:t>
            </a:r>
            <a:r>
              <a:rPr sz="95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50" b="0" dirty="0" err="1">
                <a:solidFill>
                  <a:srgbClr val="5A6473"/>
                </a:solidFill>
                <a:latin typeface="Heebo"/>
                <a:cs typeface="Heebo"/>
              </a:rPr>
              <a:t>שלה</a:t>
            </a:r>
            <a:endParaRPr sz="950" b="0" dirty="0">
              <a:solidFill>
                <a:srgbClr val="5A6473"/>
              </a:solidFill>
              <a:latin typeface="Heebo"/>
              <a:cs typeface="Heeb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335982"/>
            <a:ext cx="11185855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lang="he-IL" sz="2600" b="1" dirty="0">
                <a:solidFill>
                  <a:srgbClr val="111827"/>
                </a:solidFill>
                <a:latin typeface="Heebo"/>
                <a:cs typeface="Heebo"/>
              </a:rPr>
              <a:t>בדיקות</a:t>
            </a:r>
            <a:endParaRPr sz="2600" b="1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19" y="1087025"/>
            <a:ext cx="11185855" cy="1828800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96934" y="1251617"/>
            <a:ext cx="31089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111827"/>
                </a:solidFill>
                <a:latin typeface="Heebo"/>
                <a:cs typeface="Heebo"/>
              </a:rPr>
              <a:t>יחידה</a:t>
            </a:r>
            <a:r>
              <a:rPr sz="1200" b="1" dirty="0">
                <a:solidFill>
                  <a:srgbClr val="111827"/>
                </a:solidFill>
                <a:latin typeface="Heebo"/>
                <a:cs typeface="Heebo"/>
              </a:rPr>
              <a:t> + </a:t>
            </a:r>
            <a:r>
              <a:rPr sz="1200" b="1" dirty="0" err="1">
                <a:solidFill>
                  <a:srgbClr val="111827"/>
                </a:solidFill>
                <a:latin typeface="Heebo"/>
                <a:cs typeface="Heebo"/>
              </a:rPr>
              <a:t>קומפוננטות</a:t>
            </a:r>
            <a:endParaRPr sz="120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Vitest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+ RT</a:t>
            </a:r>
            <a:r>
              <a:rPr lang="en" sz="900" b="0" dirty="0">
                <a:solidFill>
                  <a:srgbClr val="5A6473"/>
                </a:solidFill>
                <a:latin typeface="Heebo"/>
                <a:cs typeface="Heebo"/>
              </a:rPr>
              <a:t>L</a:t>
            </a:r>
            <a:endParaRPr sz="900" b="0" dirty="0">
              <a:solidFill>
                <a:srgbClr val="5A6473"/>
              </a:solidFill>
              <a:latin typeface="Heebo"/>
              <a:cs typeface="Heeb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44774" y="1297337"/>
            <a:ext cx="5669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44774" y="1297337"/>
            <a:ext cx="566928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76094" y="1269905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D7A37"/>
                </a:solidFill>
                <a:latin typeface="Heebo"/>
                <a:cs typeface="Heebo"/>
              </a:rPr>
              <a:t>331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6934" y="1800257"/>
            <a:ext cx="31089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111827"/>
                </a:solidFill>
                <a:latin typeface="Heebo"/>
                <a:cs typeface="Heebo"/>
              </a:rPr>
              <a:t>אינטגרציה</a:t>
            </a:r>
            <a:endParaRPr sz="120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מול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Supabase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החי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4774" y="1845977"/>
            <a:ext cx="5669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69179" y="1845977"/>
            <a:ext cx="3344875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76094" y="1818545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D7A37"/>
                </a:solidFill>
                <a:latin typeface="Heebo"/>
                <a:cs typeface="Heebo"/>
              </a:rPr>
              <a:t>196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6934" y="2348897"/>
            <a:ext cx="31089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11827"/>
                </a:solidFill>
                <a:latin typeface="Heebo"/>
                <a:cs typeface="Heebo"/>
              </a:rPr>
              <a:t>E2E </a:t>
            </a:r>
            <a:r>
              <a:rPr lang="he-IL" sz="12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00" b="1" dirty="0" err="1">
                <a:solidFill>
                  <a:srgbClr val="111827"/>
                </a:solidFill>
                <a:latin typeface="Heebo"/>
                <a:cs typeface="Heebo"/>
              </a:rPr>
              <a:t>בדפדפן</a:t>
            </a:r>
            <a:r>
              <a:rPr sz="12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00" b="1" dirty="0" err="1">
                <a:solidFill>
                  <a:srgbClr val="111827"/>
                </a:solidFill>
                <a:latin typeface="Heebo"/>
                <a:cs typeface="Heebo"/>
              </a:rPr>
              <a:t>אמיתי</a:t>
            </a:r>
            <a:endParaRPr sz="120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en-US" sz="900" b="0" dirty="0">
                <a:solidFill>
                  <a:srgbClr val="5A6473"/>
                </a:solidFill>
                <a:latin typeface="Heebo"/>
                <a:cs typeface="Heebo"/>
              </a:rPr>
              <a:t>Playwright</a:t>
            </a:r>
            <a:endParaRPr sz="900" b="0" dirty="0">
              <a:solidFill>
                <a:srgbClr val="5A6473"/>
              </a:solidFill>
              <a:latin typeface="Heebo"/>
              <a:cs typeface="Heebo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544774" y="2394617"/>
            <a:ext cx="5669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60512" y="2394617"/>
            <a:ext cx="453542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76094" y="2367185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D7A37"/>
                </a:solidFill>
                <a:latin typeface="Heebo"/>
                <a:cs typeface="Heebo"/>
              </a:rPr>
              <a:t>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6" y="3429000"/>
            <a:ext cx="5455767" cy="889190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sz="1250" b="1" dirty="0" err="1">
                <a:solidFill>
                  <a:srgbClr val="111827"/>
                </a:solidFill>
                <a:latin typeface="Heebo"/>
                <a:cs typeface="Heebo"/>
              </a:rPr>
              <a:t>הבדיקה</a:t>
            </a:r>
            <a:r>
              <a:rPr sz="125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b="1" dirty="0" err="1">
                <a:solidFill>
                  <a:srgbClr val="111827"/>
                </a:solidFill>
                <a:latin typeface="Heebo"/>
                <a:cs typeface="Heebo"/>
              </a:rPr>
              <a:t>החשובה</a:t>
            </a:r>
            <a:r>
              <a:rPr sz="125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50" b="1" dirty="0" err="1">
                <a:solidFill>
                  <a:srgbClr val="111827"/>
                </a:solidFill>
                <a:latin typeface="Heebo"/>
                <a:cs typeface="Heebo"/>
              </a:rPr>
              <a:t>במוצר</a:t>
            </a:r>
            <a:endParaRPr sz="125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b="0" dirty="0">
                <a:solidFill>
                  <a:srgbClr val="5A6473"/>
                </a:solidFill>
                <a:latin typeface="Heebo"/>
                <a:cs typeface="Heebo"/>
              </a:rPr>
              <a:t>אמינות הנתונים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: </a:t>
            </a:r>
            <a:r>
              <a:rPr sz="1100" b="0" dirty="0" err="1">
                <a:solidFill>
                  <a:srgbClr val="5A6473"/>
                </a:solidFill>
                <a:latin typeface="Heebo"/>
                <a:cs typeface="Heebo"/>
              </a:rPr>
              <a:t>בדיקה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100" b="0" dirty="0" err="1">
                <a:solidFill>
                  <a:srgbClr val="5A6473"/>
                </a:solidFill>
                <a:latin typeface="Heebo"/>
                <a:cs typeface="Heebo"/>
              </a:rPr>
              <a:t>אחת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100" b="0" dirty="0" err="1">
                <a:solidFill>
                  <a:srgbClr val="5A6473"/>
                </a:solidFill>
                <a:latin typeface="Heebo"/>
                <a:cs typeface="Heebo"/>
              </a:rPr>
              <a:t>על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100" b="1" dirty="0">
                <a:solidFill>
                  <a:srgbClr val="111827"/>
                </a:solidFill>
                <a:latin typeface="Heebo"/>
                <a:cs typeface="Heebo"/>
              </a:rPr>
              <a:t>144 </a:t>
            </a:r>
            <a:r>
              <a:rPr sz="1100" b="1" dirty="0" err="1">
                <a:solidFill>
                  <a:srgbClr val="111827"/>
                </a:solidFill>
                <a:latin typeface="Heebo"/>
                <a:cs typeface="Heebo"/>
              </a:rPr>
              <a:t>צירופים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100" b="0" dirty="0" err="1">
                <a:solidFill>
                  <a:srgbClr val="5A6473"/>
                </a:solidFill>
                <a:latin typeface="Heebo"/>
                <a:cs typeface="Heebo"/>
              </a:rPr>
              <a:t>של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100" b="0" dirty="0" err="1">
                <a:solidFill>
                  <a:srgbClr val="5A6473"/>
                </a:solidFill>
                <a:latin typeface="Heebo"/>
                <a:cs typeface="Heebo"/>
              </a:rPr>
              <a:t>שאלה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 × </a:t>
            </a:r>
            <a:r>
              <a:rPr sz="1100" b="0" dirty="0" err="1">
                <a:solidFill>
                  <a:srgbClr val="5A6473"/>
                </a:solidFill>
                <a:latin typeface="Heebo"/>
                <a:cs typeface="Heebo"/>
              </a:rPr>
              <a:t>בחירה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 × </a:t>
            </a:r>
            <a:r>
              <a:rPr sz="1100" b="0" dirty="0" err="1">
                <a:solidFill>
                  <a:srgbClr val="5A6473"/>
                </a:solidFill>
                <a:latin typeface="Heebo"/>
                <a:cs typeface="Heebo"/>
              </a:rPr>
              <a:t>תוצאה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, </a:t>
            </a:r>
            <a:r>
              <a:rPr sz="1100" b="0" dirty="0" err="1">
                <a:solidFill>
                  <a:srgbClr val="5A6473"/>
                </a:solidFill>
                <a:latin typeface="Heebo"/>
                <a:cs typeface="Heebo"/>
              </a:rPr>
              <a:t>שמוודאת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100" b="0" dirty="0" err="1">
                <a:solidFill>
                  <a:srgbClr val="5A6473"/>
                </a:solidFill>
                <a:latin typeface="Heebo"/>
                <a:cs typeface="Heebo"/>
              </a:rPr>
              <a:t>שהנקודות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100" b="0" dirty="0" err="1">
                <a:solidFill>
                  <a:srgbClr val="5A6473"/>
                </a:solidFill>
                <a:latin typeface="Heebo"/>
                <a:cs typeface="Heebo"/>
              </a:rPr>
              <a:t>הצפויות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100" b="0" dirty="0" err="1">
                <a:solidFill>
                  <a:srgbClr val="5A6473"/>
                </a:solidFill>
                <a:latin typeface="Heebo"/>
                <a:cs typeface="Heebo"/>
              </a:rPr>
              <a:t>והנקודות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1100" b="0" dirty="0" err="1">
                <a:solidFill>
                  <a:srgbClr val="5A6473"/>
                </a:solidFill>
                <a:latin typeface="Heebo"/>
                <a:cs typeface="Heebo"/>
              </a:rPr>
              <a:t>שנפסקות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lang="he-IL" sz="1100" b="1" dirty="0">
                <a:solidFill>
                  <a:srgbClr val="111827"/>
                </a:solidFill>
                <a:latin typeface="Heebo"/>
                <a:cs typeface="Heebo"/>
              </a:rPr>
              <a:t>זהות</a:t>
            </a:r>
            <a:r>
              <a:rPr sz="1100" b="0" dirty="0">
                <a:solidFill>
                  <a:srgbClr val="5A6473"/>
                </a:solidFill>
                <a:latin typeface="Heebo"/>
                <a:cs typeface="Heebo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19" y="3429000"/>
            <a:ext cx="5455767" cy="889190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כלכלת טוקנים</a:t>
            </a:r>
            <a:endParaRPr sz="125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dirty="0">
                <a:solidFill>
                  <a:srgbClr val="5A6473"/>
                </a:solidFill>
                <a:latin typeface="Heebo"/>
                <a:cs typeface="Heebo"/>
              </a:rPr>
              <a:t>בדיקות אלו מורכבות מ-79 בדיקות (תחום היועץ) על מנת לוודא כי אין קריאות חוזרות ל-</a:t>
            </a:r>
            <a:r>
              <a:rPr lang="en-US" sz="1100" dirty="0">
                <a:solidFill>
                  <a:srgbClr val="5A6473"/>
                </a:solidFill>
                <a:latin typeface="Heebo"/>
                <a:cs typeface="Heebo"/>
              </a:rPr>
              <a:t>Gemini</a:t>
            </a:r>
            <a:r>
              <a:rPr lang="he-IL" sz="1100" dirty="0">
                <a:solidFill>
                  <a:srgbClr val="5A6473"/>
                </a:solidFill>
                <a:latin typeface="Heebo"/>
                <a:cs typeface="Heebo"/>
              </a:rPr>
              <a:t> על מנת לחסוך בטוקנים.</a:t>
            </a:r>
            <a:endParaRPr sz="1100" b="0" dirty="0">
              <a:solidFill>
                <a:srgbClr val="5A6473"/>
              </a:solidFill>
              <a:latin typeface="Heebo"/>
              <a:cs typeface="Heebo"/>
            </a:endParaRPr>
          </a:p>
        </p:txBody>
      </p:sp>
      <p:sp>
        <p:nvSpPr>
          <p:cNvPr id="23" name="Rounded Rectangle 19">
            <a:extLst>
              <a:ext uri="{FF2B5EF4-FFF2-40B4-BE49-F238E27FC236}">
                <a16:creationId xmlns:a16="http://schemas.microsoft.com/office/drawing/2014/main" id="{E91145CD-E0C5-0E27-376D-108E3E1B580B}"/>
              </a:ext>
            </a:extLst>
          </p:cNvPr>
          <p:cNvSpPr/>
          <p:nvPr/>
        </p:nvSpPr>
        <p:spPr>
          <a:xfrm>
            <a:off x="3368116" y="4665514"/>
            <a:ext cx="5455767" cy="777240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בדיקות ידניות</a:t>
            </a:r>
            <a:endParaRPr sz="125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1100" dirty="0">
                <a:solidFill>
                  <a:srgbClr val="5A6473"/>
                </a:solidFill>
                <a:latin typeface="Heebo"/>
                <a:cs typeface="Heebo"/>
              </a:rPr>
              <a:t>בוצעה בדיקה ידנית לכל פיצ׳ר באתר, כולל בדיקות של קבוצות חברים</a:t>
            </a:r>
            <a:endParaRPr sz="1100" b="0" dirty="0">
              <a:solidFill>
                <a:srgbClr val="5A6473"/>
              </a:solidFill>
              <a:latin typeface="Heebo"/>
              <a:cs typeface="Heeb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7744"/>
            <a:ext cx="310896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6968" y="24688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11827"/>
                </a:solidFill>
                <a:latin typeface="Heebo"/>
                <a:cs typeface="Heebo"/>
              </a:rPr>
              <a:t>DerbyUp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" y="283464"/>
            <a:ext cx="11185855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Bef>
                <a:spcPts val="0"/>
              </a:spcBef>
              <a:spcAft>
                <a:spcPts val="400"/>
              </a:spcAft>
            </a:pPr>
            <a:r>
              <a:rPr lang="he-IL" sz="2600" b="1" dirty="0" err="1">
                <a:solidFill>
                  <a:srgbClr val="111827"/>
                </a:solidFill>
                <a:latin typeface="Heebo"/>
                <a:cs typeface="Heebo"/>
              </a:rPr>
              <a:t>סקייל</a:t>
            </a:r>
            <a:r>
              <a:rPr lang="he-IL" sz="2600" b="1" dirty="0">
                <a:solidFill>
                  <a:srgbClr val="111827"/>
                </a:solidFill>
                <a:latin typeface="Heebo"/>
                <a:cs typeface="Heebo"/>
              </a:rPr>
              <a:t> + אבטחה</a:t>
            </a:r>
            <a:endParaRPr sz="2600" b="1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112556" y="791931"/>
            <a:ext cx="3576218" cy="1148339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שימוש באפליקציה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ארגון ממוצע מונה בין 100-500 עובדים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מתוכם יירשמו 20-40%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 קרי בין 20 ל-200 עובדים בליגה אחת.</a:t>
            </a: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4BF293A8-8BFA-1D98-405F-117A7C5F91D5}"/>
              </a:ext>
            </a:extLst>
          </p:cNvPr>
          <p:cNvSpPr/>
          <p:nvPr/>
        </p:nvSpPr>
        <p:spPr>
          <a:xfrm>
            <a:off x="4307891" y="813588"/>
            <a:ext cx="3576218" cy="1148339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שיא העומס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זמן קצר לפני תחילת משחק – ביצוע ניחוש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אחרי המשחק – בדיקת השינויים בטבלה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57DB877E-CBFE-1514-606F-23CD4B8BBBFF}"/>
              </a:ext>
            </a:extLst>
          </p:cNvPr>
          <p:cNvSpPr/>
          <p:nvPr/>
        </p:nvSpPr>
        <p:spPr>
          <a:xfrm>
            <a:off x="503226" y="835245"/>
            <a:ext cx="3576218" cy="1148339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שאילתות ״כבדות״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דירוג הליגה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 err="1">
                <a:solidFill>
                  <a:srgbClr val="111827"/>
                </a:solidFill>
                <a:latin typeface="Heebo"/>
                <a:cs typeface="Heebo"/>
              </a:rPr>
              <a:t>לידרבורד</a:t>
            </a:r>
            <a:endParaRPr lang="he-IL" sz="1100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היסטוריית ניחושים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משחקים קרובים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D492BB9A-4B33-E4B8-96E5-B126066AB6AF}"/>
              </a:ext>
            </a:extLst>
          </p:cNvPr>
          <p:cNvSpPr/>
          <p:nvPr/>
        </p:nvSpPr>
        <p:spPr>
          <a:xfrm>
            <a:off x="8111942" y="2135255"/>
            <a:ext cx="3576218" cy="1498208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הימנעות מטעינת מידע מיותר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טעינה לפי צורך בלבד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שימוש ב-</a:t>
            </a:r>
            <a:r>
              <a:rPr lang="en-US" sz="1100" dirty="0">
                <a:solidFill>
                  <a:srgbClr val="111827"/>
                </a:solidFill>
                <a:latin typeface="Heebo"/>
                <a:cs typeface="Heebo"/>
              </a:rPr>
              <a:t>cache</a:t>
            </a:r>
            <a:endParaRPr lang="he-IL" sz="1100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en-US" sz="1100" dirty="0">
                <a:solidFill>
                  <a:srgbClr val="111827"/>
                </a:solidFill>
                <a:latin typeface="Heebo"/>
                <a:cs typeface="Heebo"/>
              </a:rPr>
              <a:t>Pagination</a:t>
            </a:r>
            <a:endParaRPr lang="he-IL" sz="1100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5682E15E-6358-2854-1F2C-8D5B33795DF3}"/>
              </a:ext>
            </a:extLst>
          </p:cNvPr>
          <p:cNvSpPr/>
          <p:nvPr/>
        </p:nvSpPr>
        <p:spPr>
          <a:xfrm>
            <a:off x="4307277" y="2156912"/>
            <a:ext cx="3576218" cy="1498208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צעדים לטווח קצר (עד ~10,000 משתמשים)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הגדלת שירותים (</a:t>
            </a:r>
            <a:r>
              <a:rPr lang="en-US" sz="1100" dirty="0" err="1">
                <a:solidFill>
                  <a:srgbClr val="111827"/>
                </a:solidFill>
                <a:latin typeface="Heebo"/>
                <a:cs typeface="Heebo"/>
              </a:rPr>
              <a:t>vercel</a:t>
            </a:r>
            <a:r>
              <a:rPr lang="en-US" sz="1100" dirty="0">
                <a:solidFill>
                  <a:srgbClr val="111827"/>
                </a:solidFill>
                <a:latin typeface="Heebo"/>
                <a:cs typeface="Heebo"/>
              </a:rPr>
              <a:t>, </a:t>
            </a:r>
            <a:r>
              <a:rPr lang="en-US" sz="1100" dirty="0" err="1">
                <a:solidFill>
                  <a:srgbClr val="111827"/>
                </a:solidFill>
                <a:latin typeface="Heebo"/>
                <a:cs typeface="Heebo"/>
              </a:rPr>
              <a:t>supabase</a:t>
            </a:r>
            <a:r>
              <a:rPr lang="en-US" sz="1100" dirty="0">
                <a:solidFill>
                  <a:srgbClr val="111827"/>
                </a:solidFill>
                <a:latin typeface="Heebo"/>
                <a:cs typeface="Heebo"/>
              </a:rPr>
              <a:t>, API</a:t>
            </a: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)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en-US" sz="1100" dirty="0">
                <a:solidFill>
                  <a:srgbClr val="111827"/>
                </a:solidFill>
                <a:latin typeface="Heebo"/>
                <a:cs typeface="Heebo"/>
              </a:rPr>
              <a:t>Redis</a:t>
            </a: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 –</a:t>
            </a:r>
            <a:r>
              <a:rPr lang="en-US" sz="1100" dirty="0">
                <a:solidFill>
                  <a:srgbClr val="111827"/>
                </a:solidFill>
                <a:latin typeface="Heebo"/>
                <a:cs typeface="Heebo"/>
              </a:rPr>
              <a:t>caching</a:t>
            </a:r>
            <a:endParaRPr lang="he-IL" sz="1100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en-US" sz="1100" dirty="0">
                <a:solidFill>
                  <a:srgbClr val="111827"/>
                </a:solidFill>
                <a:latin typeface="Heebo"/>
                <a:cs typeface="Heebo"/>
              </a:rPr>
              <a:t>SSE</a:t>
            </a: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 לטבלה חיה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מסד נתונים גיבוי</a:t>
            </a: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6D63A3F6-DAE4-198A-727A-9834A28DDAE6}"/>
              </a:ext>
            </a:extLst>
          </p:cNvPr>
          <p:cNvSpPr/>
          <p:nvPr/>
        </p:nvSpPr>
        <p:spPr>
          <a:xfrm>
            <a:off x="502612" y="2178569"/>
            <a:ext cx="3576218" cy="1498208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ctr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50" b="1" dirty="0">
                <a:solidFill>
                  <a:srgbClr val="111827"/>
                </a:solidFill>
                <a:latin typeface="Heebo"/>
                <a:cs typeface="Heebo"/>
              </a:rPr>
              <a:t>טווח ארוך – מעל 10,000 משתמשים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שיפור </a:t>
            </a:r>
            <a:r>
              <a:rPr lang="en-US" sz="1100" dirty="0">
                <a:solidFill>
                  <a:srgbClr val="111827"/>
                </a:solidFill>
                <a:latin typeface="Heebo"/>
                <a:cs typeface="Heebo"/>
              </a:rPr>
              <a:t>pagination</a:t>
            </a:r>
            <a:endParaRPr lang="he-IL" sz="1100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יצירת עותקי קריאה בלבד למסד הנתונים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מחיקת עונות ישנות</a:t>
            </a:r>
          </a:p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100" dirty="0">
                <a:solidFill>
                  <a:srgbClr val="111827"/>
                </a:solidFill>
                <a:latin typeface="Heebo"/>
                <a:cs typeface="Heebo"/>
              </a:rPr>
              <a:t>פריסת שרתים רב אזורית</a:t>
            </a: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211F1B9E-597C-7BAC-F687-56D61CDBD8BF}"/>
              </a:ext>
            </a:extLst>
          </p:cNvPr>
          <p:cNvSpPr/>
          <p:nvPr/>
        </p:nvSpPr>
        <p:spPr>
          <a:xfrm>
            <a:off x="5561680" y="3828448"/>
            <a:ext cx="6126480" cy="2555260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sz="1200" b="1" dirty="0" err="1">
                <a:solidFill>
                  <a:srgbClr val="111827"/>
                </a:solidFill>
                <a:latin typeface="Heebo"/>
                <a:cs typeface="Heebo"/>
              </a:rPr>
              <a:t>מודל</a:t>
            </a:r>
            <a:r>
              <a:rPr sz="12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00" b="1" dirty="0" err="1">
                <a:solidFill>
                  <a:srgbClr val="111827"/>
                </a:solidFill>
                <a:latin typeface="Heebo"/>
                <a:cs typeface="Heebo"/>
              </a:rPr>
              <a:t>האיום</a:t>
            </a:r>
            <a:r>
              <a:rPr sz="1200" b="1" dirty="0">
                <a:solidFill>
                  <a:srgbClr val="111827"/>
                </a:solidFill>
                <a:latin typeface="Heebo"/>
                <a:cs typeface="Heebo"/>
              </a:rPr>
              <a:t> - </a:t>
            </a:r>
            <a:r>
              <a:rPr sz="1200" b="1" dirty="0" err="1">
                <a:solidFill>
                  <a:srgbClr val="111827"/>
                </a:solidFill>
                <a:latin typeface="Heebo"/>
                <a:cs typeface="Heebo"/>
              </a:rPr>
              <a:t>ומה</a:t>
            </a:r>
            <a:r>
              <a:rPr sz="12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00" b="1" dirty="0" err="1">
                <a:solidFill>
                  <a:srgbClr val="111827"/>
                </a:solidFill>
                <a:latin typeface="Heebo"/>
                <a:cs typeface="Heebo"/>
              </a:rPr>
              <a:t>עונה</a:t>
            </a:r>
            <a:r>
              <a:rPr sz="12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00" b="1" dirty="0" err="1">
                <a:solidFill>
                  <a:srgbClr val="111827"/>
                </a:solidFill>
                <a:latin typeface="Heebo"/>
                <a:cs typeface="Heebo"/>
              </a:rPr>
              <a:t>לכל</a:t>
            </a:r>
            <a:r>
              <a:rPr sz="12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200" b="1" dirty="0" err="1">
                <a:solidFill>
                  <a:srgbClr val="111827"/>
                </a:solidFill>
                <a:latin typeface="Heebo"/>
                <a:cs typeface="Heebo"/>
              </a:rPr>
              <a:t>תוקף</a:t>
            </a:r>
            <a:endParaRPr sz="1200" b="1" dirty="0">
              <a:solidFill>
                <a:srgbClr val="111827"/>
              </a:solidFill>
              <a:latin typeface="Heebo"/>
              <a:cs typeface="Heebo"/>
            </a:endParaRPr>
          </a:p>
        </p:txBody>
      </p:sp>
      <p:graphicFrame>
        <p:nvGraphicFramePr>
          <p:cNvPr id="19" name="Table 9">
            <a:extLst>
              <a:ext uri="{FF2B5EF4-FFF2-40B4-BE49-F238E27FC236}">
                <a16:creationId xmlns:a16="http://schemas.microsoft.com/office/drawing/2014/main" id="{740E6660-EBC5-3E63-DF7A-16AF5F380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662207"/>
              </p:ext>
            </p:extLst>
          </p:nvPr>
        </p:nvGraphicFramePr>
        <p:xfrm>
          <a:off x="5671408" y="4301201"/>
          <a:ext cx="590702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419"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D7A37"/>
                          </a:solidFill>
                          <a:latin typeface="Heebo"/>
                          <a:cs typeface="Heebo"/>
                        </a:rPr>
                        <a:t>המענה</a:t>
                      </a:r>
                    </a:p>
                  </a:txBody>
                  <a:tcPr marL="54864" marR="54864" marT="18288" marB="18288">
                    <a:solidFill>
                      <a:srgbClr val="F2FA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D7A37"/>
                          </a:solidFill>
                          <a:latin typeface="Heebo"/>
                          <a:cs typeface="Heebo"/>
                        </a:rPr>
                        <a:t>מה הוא רוצה</a:t>
                      </a:r>
                    </a:p>
                  </a:txBody>
                  <a:tcPr marL="54864" marR="54864" marT="18288" marB="18288">
                    <a:solidFill>
                      <a:srgbClr val="F2FA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D7A37"/>
                          </a:solidFill>
                          <a:latin typeface="Heebo"/>
                          <a:cs typeface="Heebo"/>
                        </a:rPr>
                        <a:t>התוקף</a:t>
                      </a:r>
                    </a:p>
                  </a:txBody>
                  <a:tcPr marL="54864" marR="54864" marT="18288" marB="18288">
                    <a:solidFill>
                      <a:srgbClr val="F2F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מסנן </a:t>
                      </a:r>
                      <a:r>
                        <a:rPr lang="en-US"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RLS</a:t>
                      </a:r>
                      <a:r>
                        <a:rPr lang="he-IL"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- </a:t>
                      </a: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הנתונים</a:t>
                      </a:r>
                      <a:r>
                        <a:rPr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לא</a:t>
                      </a:r>
                      <a:r>
                        <a:rPr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עוזבים</a:t>
                      </a:r>
                      <a:r>
                        <a:rPr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את</a:t>
                      </a:r>
                      <a:r>
                        <a:rPr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השרת</a:t>
                      </a:r>
                      <a:endParaRPr sz="850" b="0" dirty="0">
                        <a:solidFill>
                          <a:srgbClr val="5A6473"/>
                        </a:solidFill>
                        <a:latin typeface="Heebo"/>
                        <a:cs typeface="Heebo"/>
                      </a:endParaRP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ניחושים</a:t>
                      </a:r>
                      <a:r>
                        <a:rPr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של</a:t>
                      </a:r>
                      <a:r>
                        <a:rPr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עמיתים</a:t>
                      </a:r>
                      <a:endParaRPr sz="850" b="0" dirty="0">
                        <a:solidFill>
                          <a:srgbClr val="5A6473"/>
                        </a:solidFill>
                        <a:latin typeface="Heebo"/>
                        <a:cs typeface="Heebo"/>
                      </a:endParaRP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עובד סקרן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אין טריגר </a:t>
                      </a:r>
                      <a:r>
                        <a:rPr lang="en-US"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UPDATE / DELETE</a:t>
                      </a:r>
                      <a:endParaRPr sz="850" b="0" dirty="0">
                        <a:solidFill>
                          <a:srgbClr val="5A6473"/>
                        </a:solidFill>
                        <a:latin typeface="Heebo"/>
                        <a:cs typeface="Heebo"/>
                      </a:endParaRP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לכתוב</a:t>
                      </a:r>
                      <a:r>
                        <a:rPr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ניקוד</a:t>
                      </a:r>
                      <a:r>
                        <a:rPr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, </a:t>
                      </a: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לנחש</a:t>
                      </a:r>
                      <a:r>
                        <a:rPr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באיחור</a:t>
                      </a:r>
                      <a:endParaRPr sz="850" b="0" dirty="0">
                        <a:solidFill>
                          <a:srgbClr val="5A6473"/>
                        </a:solidFill>
                        <a:latin typeface="Heebo"/>
                        <a:cs typeface="Heebo"/>
                      </a:endParaRP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 err="1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עובד</a:t>
                      </a:r>
                      <a:r>
                        <a:rPr sz="850" b="1" dirty="0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תחרותי</a:t>
                      </a:r>
                      <a:endParaRPr sz="850" b="1" dirty="0">
                        <a:solidFill>
                          <a:srgbClr val="111827"/>
                        </a:solidFill>
                        <a:latin typeface="Heebo"/>
                        <a:cs typeface="Heebo"/>
                      </a:endParaRP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נתונים יושבים </a:t>
                      </a:r>
                      <a:r>
                        <a:rPr lang="he-IL"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בבקאנד</a:t>
                      </a:r>
                      <a:r>
                        <a:rPr lang="he-IL"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ולא בפרונט</a:t>
                      </a:r>
                      <a:endParaRPr sz="850" b="0" dirty="0">
                        <a:solidFill>
                          <a:srgbClr val="5A6473"/>
                        </a:solidFill>
                        <a:latin typeface="Heebo"/>
                        <a:cs typeface="Heebo"/>
                      </a:endParaRP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לעקוף</a:t>
                      </a:r>
                      <a:r>
                        <a:rPr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ולידציות</a:t>
                      </a:r>
                      <a:endParaRPr sz="850" b="0" dirty="0">
                        <a:solidFill>
                          <a:srgbClr val="5A6473"/>
                        </a:solidFill>
                        <a:latin typeface="Heebo"/>
                        <a:cs typeface="Heebo"/>
                      </a:endParaRP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 err="1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עובד</a:t>
                      </a:r>
                      <a:r>
                        <a:rPr sz="850" b="1" dirty="0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עם</a:t>
                      </a:r>
                      <a:r>
                        <a:rPr lang="he-IL" sz="850" b="1" dirty="0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1" dirty="0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DevTools</a:t>
                      </a:r>
                      <a:endParaRPr sz="850" b="1" dirty="0">
                        <a:solidFill>
                          <a:srgbClr val="111827"/>
                        </a:solidFill>
                        <a:latin typeface="Heebo"/>
                        <a:cs typeface="Heebo"/>
                      </a:endParaRP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אותנטיקציה</a:t>
                      </a:r>
                      <a:r>
                        <a:rPr lang="he-IL"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, </a:t>
                      </a:r>
                      <a:r>
                        <a:rPr lang="en-US"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https</a:t>
                      </a:r>
                      <a:r>
                        <a:rPr lang="he-IL"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, אין גישה לנתונים מדף הנחיתה</a:t>
                      </a:r>
                      <a:endParaRPr sz="850" b="0" dirty="0">
                        <a:solidFill>
                          <a:srgbClr val="5A6473"/>
                        </a:solidFill>
                        <a:latin typeface="Heebo"/>
                        <a:cs typeface="Heebo"/>
                      </a:endParaRP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נתוני</a:t>
                      </a:r>
                      <a:r>
                        <a:rPr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0" dirty="0" err="1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הארגון</a:t>
                      </a:r>
                      <a:endParaRPr sz="850" b="0" dirty="0">
                        <a:solidFill>
                          <a:srgbClr val="5A6473"/>
                        </a:solidFill>
                        <a:latin typeface="Heebo"/>
                        <a:cs typeface="Heebo"/>
                      </a:endParaRP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 err="1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גורם</a:t>
                      </a:r>
                      <a:r>
                        <a:rPr sz="850" b="1" dirty="0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חיצוני</a:t>
                      </a:r>
                      <a:endParaRPr sz="850" b="1" dirty="0">
                        <a:solidFill>
                          <a:srgbClr val="111827"/>
                        </a:solidFill>
                        <a:latin typeface="Heebo"/>
                        <a:cs typeface="Heebo"/>
                      </a:endParaRP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4"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e-IL"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שמירת </a:t>
                      </a:r>
                      <a:r>
                        <a:rPr lang="en-US" sz="850" b="0" dirty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secrets</a:t>
                      </a:r>
                      <a:endParaRPr sz="850" b="0" dirty="0">
                        <a:solidFill>
                          <a:srgbClr val="5A6473"/>
                        </a:solidFill>
                        <a:latin typeface="Heebo"/>
                        <a:cs typeface="Heebo"/>
                      </a:endParaRP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5A6473"/>
                          </a:solidFill>
                          <a:latin typeface="Heebo"/>
                          <a:cs typeface="Heebo"/>
                        </a:rPr>
                        <a:t>חולשות גנריות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 dirty="0" err="1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סורק</a:t>
                      </a:r>
                      <a:r>
                        <a:rPr sz="850" b="1" dirty="0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 </a:t>
                      </a:r>
                      <a:r>
                        <a:rPr sz="850" b="1" dirty="0" err="1">
                          <a:solidFill>
                            <a:srgbClr val="111827"/>
                          </a:solidFill>
                          <a:latin typeface="Heebo"/>
                          <a:cs typeface="Heebo"/>
                        </a:rPr>
                        <a:t>אוטומטי</a:t>
                      </a:r>
                      <a:endParaRPr sz="850" b="1" dirty="0">
                        <a:solidFill>
                          <a:srgbClr val="111827"/>
                        </a:solidFill>
                        <a:latin typeface="Heebo"/>
                        <a:cs typeface="Heebo"/>
                      </a:endParaRP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69FC3BBB-8251-C973-46A1-79994C708224}"/>
              </a:ext>
            </a:extLst>
          </p:cNvPr>
          <p:cNvSpPr/>
          <p:nvPr/>
        </p:nvSpPr>
        <p:spPr>
          <a:xfrm>
            <a:off x="502612" y="3830381"/>
            <a:ext cx="4798267" cy="761994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b="1" dirty="0">
                <a:solidFill>
                  <a:srgbClr val="0D7A37"/>
                </a:solidFill>
                <a:latin typeface="Heebo"/>
                <a:cs typeface="Heebo"/>
              </a:rPr>
              <a:t>55</a:t>
            </a:r>
            <a:r>
              <a:rPr sz="1100" b="1" dirty="0">
                <a:solidFill>
                  <a:srgbClr val="111827"/>
                </a:solidFill>
                <a:latin typeface="Heebo"/>
                <a:cs typeface="Heebo"/>
              </a:rPr>
              <a:t>  </a:t>
            </a:r>
            <a:r>
              <a:rPr sz="1100" b="1" dirty="0" err="1">
                <a:solidFill>
                  <a:srgbClr val="111827"/>
                </a:solidFill>
                <a:latin typeface="Heebo"/>
                <a:cs typeface="Heebo"/>
              </a:rPr>
              <a:t>בדיקות</a:t>
            </a:r>
            <a:r>
              <a:rPr sz="11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100" b="1" dirty="0" err="1">
                <a:solidFill>
                  <a:srgbClr val="111827"/>
                </a:solidFill>
                <a:latin typeface="Heebo"/>
                <a:cs typeface="Heebo"/>
              </a:rPr>
              <a:t>הרשאה</a:t>
            </a:r>
            <a:r>
              <a:rPr sz="1100" b="1" dirty="0">
                <a:solidFill>
                  <a:srgbClr val="111827"/>
                </a:solidFill>
                <a:latin typeface="Heebo"/>
                <a:cs typeface="Heebo"/>
              </a:rPr>
              <a:t> </a:t>
            </a:r>
            <a:r>
              <a:rPr sz="1100" b="1" dirty="0" err="1">
                <a:solidFill>
                  <a:srgbClr val="111827"/>
                </a:solidFill>
                <a:latin typeface="Heebo"/>
                <a:cs typeface="Heebo"/>
              </a:rPr>
              <a:t>עוברות</a:t>
            </a:r>
            <a:endParaRPr sz="110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900" dirty="0">
                <a:solidFill>
                  <a:srgbClr val="5A6473"/>
                </a:solidFill>
                <a:latin typeface="Heebo"/>
                <a:cs typeface="Heebo"/>
              </a:rPr>
              <a:t>בדיקות בנושא בידוד נתונים, פעולות לפי רמת הרשאות, הגנת מסלולים, ניסיונות כתיבה וקריאת נתונים של משתמש אחר.</a:t>
            </a:r>
            <a:endParaRPr sz="900" b="0" dirty="0">
              <a:solidFill>
                <a:srgbClr val="5A6473"/>
              </a:solidFill>
              <a:latin typeface="Heebo"/>
              <a:cs typeface="Heebo"/>
            </a:endParaRPr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82B15C8A-36BB-2323-7596-B9403E1222CD}"/>
              </a:ext>
            </a:extLst>
          </p:cNvPr>
          <p:cNvSpPr/>
          <p:nvPr/>
        </p:nvSpPr>
        <p:spPr>
          <a:xfrm>
            <a:off x="502610" y="4727888"/>
            <a:ext cx="4798267" cy="761994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00" b="1" dirty="0">
                <a:solidFill>
                  <a:srgbClr val="111827"/>
                </a:solidFill>
                <a:latin typeface="Heebo"/>
                <a:cs typeface="Heebo"/>
              </a:rPr>
              <a:t>אכיפת עקיפת סמכויות – כתיבת ניקוד</a:t>
            </a:r>
            <a:endParaRPr sz="120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ל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-predictions </a:t>
            </a:r>
            <a:r>
              <a:rPr sz="900" b="1" dirty="0" err="1">
                <a:solidFill>
                  <a:srgbClr val="111827"/>
                </a:solidFill>
                <a:latin typeface="Heebo"/>
                <a:cs typeface="Heebo"/>
              </a:rPr>
              <a:t>אין</a:t>
            </a:r>
            <a:r>
              <a:rPr sz="900" b="1" dirty="0">
                <a:solidFill>
                  <a:srgbClr val="111827"/>
                </a:solidFill>
                <a:latin typeface="Heebo"/>
                <a:cs typeface="Heebo"/>
              </a:rPr>
              <a:t> policy </a:t>
            </a:r>
            <a:r>
              <a:rPr sz="900" b="1" dirty="0" err="1">
                <a:solidFill>
                  <a:srgbClr val="111827"/>
                </a:solidFill>
                <a:latin typeface="Heebo"/>
                <a:cs typeface="Heebo"/>
              </a:rPr>
              <a:t>של</a:t>
            </a:r>
            <a:r>
              <a:rPr sz="900" b="1" dirty="0">
                <a:solidFill>
                  <a:srgbClr val="111827"/>
                </a:solidFill>
                <a:latin typeface="Heebo"/>
                <a:cs typeface="Heebo"/>
              </a:rPr>
              <a:t> UPDATE </a:t>
            </a:r>
            <a:r>
              <a:rPr sz="900" b="1" dirty="0" err="1">
                <a:solidFill>
                  <a:srgbClr val="111827"/>
                </a:solidFill>
                <a:latin typeface="Heebo"/>
                <a:cs typeface="Heebo"/>
              </a:rPr>
              <a:t>או</a:t>
            </a:r>
            <a:r>
              <a:rPr sz="900" b="1" dirty="0">
                <a:solidFill>
                  <a:srgbClr val="111827"/>
                </a:solidFill>
                <a:latin typeface="Heebo"/>
                <a:cs typeface="Heebo"/>
              </a:rPr>
              <a:t> DELETE </a:t>
            </a:r>
            <a:r>
              <a:rPr sz="900" b="1" dirty="0" err="1">
                <a:solidFill>
                  <a:srgbClr val="111827"/>
                </a:solidFill>
                <a:latin typeface="Heebo"/>
                <a:cs typeface="Heebo"/>
              </a:rPr>
              <a:t>בכלל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;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ביטול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רק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דרך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פונקציה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עם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שלוש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בדיקות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,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וטריגר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מקפיא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את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עמודות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הניקוד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ואת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דגל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 </a:t>
            </a:r>
            <a:r>
              <a:rPr sz="900" b="0" dirty="0" err="1">
                <a:solidFill>
                  <a:srgbClr val="5A6473"/>
                </a:solidFill>
                <a:latin typeface="Heebo"/>
                <a:cs typeface="Heebo"/>
              </a:rPr>
              <a:t>האדמין</a:t>
            </a:r>
            <a:r>
              <a:rPr sz="900" b="0" dirty="0">
                <a:solidFill>
                  <a:srgbClr val="5A6473"/>
                </a:solidFill>
                <a:latin typeface="Heebo"/>
                <a:cs typeface="Heebo"/>
              </a:rPr>
              <a:t>.</a:t>
            </a:r>
          </a:p>
        </p:txBody>
      </p:sp>
      <p:sp>
        <p:nvSpPr>
          <p:cNvPr id="22" name="Rounded Rectangle 6">
            <a:extLst>
              <a:ext uri="{FF2B5EF4-FFF2-40B4-BE49-F238E27FC236}">
                <a16:creationId xmlns:a16="http://schemas.microsoft.com/office/drawing/2014/main" id="{EAB63F9D-07FC-CE38-6417-88C0847FF896}"/>
              </a:ext>
            </a:extLst>
          </p:cNvPr>
          <p:cNvSpPr/>
          <p:nvPr/>
        </p:nvSpPr>
        <p:spPr>
          <a:xfrm>
            <a:off x="502610" y="5615749"/>
            <a:ext cx="4798267" cy="761994"/>
          </a:xfrm>
          <a:prstGeom prst="roundRect">
            <a:avLst>
              <a:gd name="adj" fmla="val 7000"/>
            </a:avLst>
          </a:prstGeom>
          <a:solidFill>
            <a:srgbClr val="F2FAF4"/>
          </a:solidFill>
          <a:ln w="12700">
            <a:solidFill>
              <a:srgbClr val="DCEF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82296" rIns="128016" bIns="82296" rtlCol="0" anchor="t"/>
          <a:lstStyle/>
          <a:p>
            <a:pPr algn="ctr" rtl="1">
              <a:spcBef>
                <a:spcPts val="0"/>
              </a:spcBef>
              <a:spcAft>
                <a:spcPts val="300"/>
              </a:spcAft>
            </a:pPr>
            <a:r>
              <a:rPr lang="he-IL" sz="1200" b="1" dirty="0">
                <a:solidFill>
                  <a:srgbClr val="111827"/>
                </a:solidFill>
                <a:latin typeface="Heebo"/>
                <a:cs typeface="Heebo"/>
              </a:rPr>
              <a:t>שמירת </a:t>
            </a:r>
            <a:r>
              <a:rPr lang="en-US" sz="1200" b="1" dirty="0">
                <a:solidFill>
                  <a:srgbClr val="111827"/>
                </a:solidFill>
                <a:latin typeface="Heebo"/>
                <a:cs typeface="Heebo"/>
              </a:rPr>
              <a:t>secrets</a:t>
            </a:r>
            <a:endParaRPr sz="1200" b="1" dirty="0">
              <a:solidFill>
                <a:srgbClr val="111827"/>
              </a:solidFill>
              <a:latin typeface="Heebo"/>
              <a:cs typeface="Heebo"/>
            </a:endParaRP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900" b="0" dirty="0">
                <a:solidFill>
                  <a:srgbClr val="5A6473"/>
                </a:solidFill>
                <a:latin typeface="Heebo"/>
                <a:cs typeface="Heebo"/>
              </a:rPr>
              <a:t>החל מה-</a:t>
            </a:r>
            <a:r>
              <a:rPr lang="en-US" sz="900" b="0" dirty="0">
                <a:solidFill>
                  <a:srgbClr val="5A6473"/>
                </a:solidFill>
                <a:latin typeface="Heebo"/>
                <a:cs typeface="Heebo"/>
              </a:rPr>
              <a:t>commit</a:t>
            </a:r>
            <a:r>
              <a:rPr lang="he-IL" sz="900" b="0" dirty="0">
                <a:solidFill>
                  <a:srgbClr val="5A6473"/>
                </a:solidFill>
                <a:latin typeface="Heebo"/>
                <a:cs typeface="Heebo"/>
              </a:rPr>
              <a:t> הראשון, נתונים רגישים (מפתחות וסיסמאות) נשמרו לוקאלית </a:t>
            </a:r>
          </a:p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he-IL" sz="900" b="0" dirty="0" err="1">
                <a:solidFill>
                  <a:srgbClr val="5A6473"/>
                </a:solidFill>
                <a:latin typeface="Heebo"/>
                <a:cs typeface="Heebo"/>
              </a:rPr>
              <a:t>וב</a:t>
            </a:r>
            <a:r>
              <a:rPr lang="he-IL" sz="900" b="0" dirty="0">
                <a:solidFill>
                  <a:srgbClr val="5A6473"/>
                </a:solidFill>
                <a:latin typeface="Heebo"/>
                <a:cs typeface="Heebo"/>
              </a:rPr>
              <a:t>-</a:t>
            </a:r>
            <a:r>
              <a:rPr lang="en-US" sz="900" b="0" dirty="0" err="1">
                <a:solidFill>
                  <a:srgbClr val="5A6473"/>
                </a:solidFill>
                <a:latin typeface="Heebo"/>
                <a:cs typeface="Heebo"/>
              </a:rPr>
              <a:t>vercel</a:t>
            </a:r>
            <a:r>
              <a:rPr lang="he-IL" sz="900" b="0" dirty="0">
                <a:solidFill>
                  <a:srgbClr val="5A6473"/>
                </a:solidFill>
                <a:latin typeface="Heebo"/>
                <a:cs typeface="Heebo"/>
              </a:rPr>
              <a:t> בלבד</a:t>
            </a:r>
            <a:endParaRPr sz="900" b="0" dirty="0">
              <a:solidFill>
                <a:srgbClr val="5A6473"/>
              </a:solidFill>
              <a:latin typeface="Heebo"/>
              <a:cs typeface="Heeb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831</Words>
  <Application>Microsoft Macintosh PowerPoint</Application>
  <PresentationFormat>מסך רחב</PresentationFormat>
  <Paragraphs>145</Paragraphs>
  <Slides>8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Heebo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Nir Dahan</cp:lastModifiedBy>
  <cp:revision>11</cp:revision>
  <dcterms:created xsi:type="dcterms:W3CDTF">2013-01-27T09:14:16Z</dcterms:created>
  <dcterms:modified xsi:type="dcterms:W3CDTF">2026-08-28T14:49:30Z</dcterms:modified>
  <cp:category/>
</cp:coreProperties>
</file>